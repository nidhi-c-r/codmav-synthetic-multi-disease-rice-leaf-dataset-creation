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jR09ZMQTCZeAe3+M2m8GJtrZ5Y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0D88DF-31F2-450D-AD7F-80F9E4D47D73}">
  <a:tblStyle styleId="{920D88DF-31F2-450D-AD7F-80F9E4D47D7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3.png"/><Relationship Id="rId5" Type="http://schemas.openxmlformats.org/officeDocument/2006/relationships/image" Target="../media/image4.png"/><Relationship Id="rId6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8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15" Type="http://schemas.openxmlformats.org/officeDocument/2006/relationships/image" Target="../media/image66.png"/><Relationship Id="rId14" Type="http://schemas.openxmlformats.org/officeDocument/2006/relationships/image" Target="../media/image17.png"/><Relationship Id="rId16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29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4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47.png"/><Relationship Id="rId13" Type="http://schemas.openxmlformats.org/officeDocument/2006/relationships/image" Target="../media/image36.png"/><Relationship Id="rId1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Relationship Id="rId15" Type="http://schemas.openxmlformats.org/officeDocument/2006/relationships/image" Target="../media/image39.png"/><Relationship Id="rId14" Type="http://schemas.openxmlformats.org/officeDocument/2006/relationships/image" Target="../media/image41.png"/><Relationship Id="rId17" Type="http://schemas.openxmlformats.org/officeDocument/2006/relationships/image" Target="../media/image68.png"/><Relationship Id="rId16" Type="http://schemas.openxmlformats.org/officeDocument/2006/relationships/image" Target="../media/image37.png"/><Relationship Id="rId5" Type="http://schemas.openxmlformats.org/officeDocument/2006/relationships/image" Target="../media/image43.png"/><Relationship Id="rId6" Type="http://schemas.openxmlformats.org/officeDocument/2006/relationships/image" Target="../media/image48.png"/><Relationship Id="rId18" Type="http://schemas.openxmlformats.org/officeDocument/2006/relationships/image" Target="../media/image51.png"/><Relationship Id="rId7" Type="http://schemas.openxmlformats.org/officeDocument/2006/relationships/image" Target="../media/image38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2.png"/><Relationship Id="rId9" Type="http://schemas.openxmlformats.org/officeDocument/2006/relationships/image" Target="../media/image50.png"/><Relationship Id="rId5" Type="http://schemas.openxmlformats.org/officeDocument/2006/relationships/image" Target="../media/image45.png"/><Relationship Id="rId6" Type="http://schemas.openxmlformats.org/officeDocument/2006/relationships/image" Target="../media/image44.pn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52.png"/><Relationship Id="rId9" Type="http://schemas.openxmlformats.org/officeDocument/2006/relationships/image" Target="../media/image62.png"/><Relationship Id="rId5" Type="http://schemas.openxmlformats.org/officeDocument/2006/relationships/image" Target="../media/image46.png"/><Relationship Id="rId6" Type="http://schemas.openxmlformats.org/officeDocument/2006/relationships/image" Target="../media/image55.png"/><Relationship Id="rId7" Type="http://schemas.openxmlformats.org/officeDocument/2006/relationships/image" Target="../media/image54.png"/><Relationship Id="rId8" Type="http://schemas.openxmlformats.org/officeDocument/2006/relationships/image" Target="../media/image6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56.png"/><Relationship Id="rId5" Type="http://schemas.openxmlformats.org/officeDocument/2006/relationships/image" Target="../media/image59.png"/><Relationship Id="rId6" Type="http://schemas.openxmlformats.org/officeDocument/2006/relationships/image" Target="../media/image54.png"/><Relationship Id="rId7" Type="http://schemas.openxmlformats.org/officeDocument/2006/relationships/image" Target="../media/image65.png"/><Relationship Id="rId8" Type="http://schemas.openxmlformats.org/officeDocument/2006/relationships/image" Target="../media/image5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4.png"/><Relationship Id="rId5" Type="http://schemas.openxmlformats.org/officeDocument/2006/relationships/image" Target="../media/image70.png"/><Relationship Id="rId6" Type="http://schemas.openxmlformats.org/officeDocument/2006/relationships/image" Target="../media/image6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7.png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6287" y="1819721"/>
            <a:ext cx="30194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6975" y="4152304"/>
            <a:ext cx="72580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334357"/>
            <a:ext cx="11144250" cy="60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1345406" y="2362646"/>
            <a:ext cx="9501187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SYNTHETIC DATASET CREATION FOR COEXISTING DISEASES IN RICE LEAF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4486275" y="3553271"/>
            <a:ext cx="3219450" cy="265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Project ID: 09  |  Topic: Review_2_CoDMAV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4248150" y="4352329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877050" y="4352329"/>
            <a:ext cx="9525" cy="4857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809875" y="4352329"/>
            <a:ext cx="10572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PROJECT GUIDE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2809875" y="4495204"/>
            <a:ext cx="1057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Prof. Swetha Patil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638675" y="4352329"/>
            <a:ext cx="18573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TEAM MEMBERS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4638675" y="4495204"/>
            <a:ext cx="1857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Nidhi CR (PES2UG23CS382)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4638675" y="4676179"/>
            <a:ext cx="1857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Jayashree D (PES2UG24CS203)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1238250"/>
            <a:ext cx="5453062" cy="3416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238250"/>
            <a:ext cx="5453062" cy="3416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34675" y="533400"/>
            <a:ext cx="933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752475" y="2037010"/>
            <a:ext cx="527565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Research Core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752475" y="2494210"/>
            <a:ext cx="502443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work focuses on developing a robust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synthetic multi-disease rice leaf dataset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overcome the critical shortage of open-access datasets exhibiting multiple co-occurring diseases on a single rice leaf.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52475" y="3368426"/>
            <a:ext cx="502443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bridging this gap, the project provides a benchmark resource to improve multi-label plant disease diagnosis models under realistic field conditions.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6415087" y="1438275"/>
            <a:ext cx="53056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End-to-End Pipeline Highlights</a:t>
            </a:r>
            <a:endParaRPr/>
          </a:p>
        </p:txBody>
      </p:sp>
      <p:pic>
        <p:nvPicPr>
          <p:cNvPr descr="image.png" id="109" name="Google Shape;10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2084635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5087" y="14859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6643687" y="1838325"/>
            <a:ext cx="4824412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Dataset Collection &amp; Preprocessing: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Quality filtering, deduplication, and enhancement.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643687" y="2361604"/>
            <a:ext cx="4824412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Lesion Segmentation &amp; Extraction: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Precise SAM2 prompt-guided masks &amp; RGBA patch extraction.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643687" y="2884884"/>
            <a:ext cx="4824412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Copy-Paste &amp; Multi-Band Pyramid Blending: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Realistic seamless insertion of disease patches onto destination leaves.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643687" y="3408164"/>
            <a:ext cx="4824412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Dataset Validation: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Rigorous evaluation via PSNR, SSIM, BRISQUE, NIQE, and FID metrics.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643687" y="3931443"/>
            <a:ext cx="4824412" cy="4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Multi-label Model Benchmarking: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Verify using ViT, Swin Transformers, and EfficientNet architectures.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Abstract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8" name="Google Shape;11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5087" y="1857375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5087" y="238065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5087" y="290393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5087" y="342721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5087" y="3950493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2062162"/>
            <a:ext cx="3587650" cy="1375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2062162"/>
            <a:ext cx="3587799" cy="1375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0325" y="2062162"/>
            <a:ext cx="3587650" cy="1375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3628132"/>
            <a:ext cx="3587650" cy="1375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02025" y="3628132"/>
            <a:ext cx="3587799" cy="1375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0325" y="3628132"/>
            <a:ext cx="3587650" cy="1375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0" y="533400"/>
            <a:ext cx="10953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3875" y="1238250"/>
            <a:ext cx="11144250" cy="63341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752475" y="2262187"/>
            <a:ext cx="33169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Lack of Multi-Disease Data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752475" y="2595562"/>
            <a:ext cx="3159025" cy="6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Public datasets (e.g., Paddy Doctor) only contain single-disease rice leaf images, preventing multi-label training.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4530625" y="2262187"/>
            <a:ext cx="331713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Poor Field Representation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4530625" y="2595562"/>
            <a:ext cx="3159174" cy="6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 farm environments exhibit co-occurring diseases (e.g., Blast + Brown Spot), which current single-disease models misclassify.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308925" y="2262187"/>
            <a:ext cx="33169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Limited Rice Resources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8308925" y="2595562"/>
            <a:ext cx="3159025" cy="6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Existing multi-label agricultural resources primarily target tomato or apple crops, severely neglecting staple rice crops.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752475" y="3828157"/>
            <a:ext cx="33169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Model vs. Dataset Focus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752475" y="4161532"/>
            <a:ext cx="3159025" cy="6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Prior research prioritizes tweaking neural network architectures rather than building dedicated co-occurring datasets.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4530625" y="3828157"/>
            <a:ext cx="331713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Minimal Image Synthesis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4530625" y="4161532"/>
            <a:ext cx="3159174" cy="6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Advanced image synthesis and pyramid blending remain underexplored for multi-disease plant symptom generation.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8308925" y="3828157"/>
            <a:ext cx="33169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Proposed Solution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8308925" y="4161532"/>
            <a:ext cx="3159025" cy="6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dedicated pipeline leveraging SAM2 segmentation, copy-paste augmentation, and Laplacian blending for multi-disease synthesis.</a:t>
            </a:r>
            <a:endParaRPr/>
          </a:p>
        </p:txBody>
      </p:sp>
      <p:pic>
        <p:nvPicPr>
          <p:cNvPr descr="image.png" id="148" name="Google Shape;148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23098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30625" y="23098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08925" y="230981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2475" y="387578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530625" y="387578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08925" y="3875782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Statement &amp; Research Gaps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1275" y="533400"/>
            <a:ext cx="14668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/>
          <p:nvPr/>
        </p:nvSpPr>
        <p:spPr>
          <a:xfrm>
            <a:off x="523875" y="1238250"/>
            <a:ext cx="11144250" cy="29241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4"/>
          <p:cNvGraphicFramePr/>
          <p:nvPr/>
        </p:nvGraphicFramePr>
        <p:xfrm>
          <a:off x="523875" y="1238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{920D88DF-31F2-450D-AD7F-80F9E4D47D73}</a:tableStyleId>
              </a:tblPr>
              <a:tblGrid>
                <a:gridCol w="556625"/>
                <a:gridCol w="2783675"/>
                <a:gridCol w="3117650"/>
                <a:gridCol w="2449550"/>
                <a:gridCol w="2227200"/>
              </a:tblGrid>
              <a:tr h="3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Paper &amp; Reference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Technique / 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Limitations Identified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Relevance to Project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Paddy Doctor (2022)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Rice disease dataset creation &amp; benchmarking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Single-disease images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Source dataset for BLB, Blast, Brown Spot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Multi-Label Tomato Identification (2025)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ViT + EfficientNet + Multi-label 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Tomato domain restricted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Framework for multi-label learning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Mixed Disease Recognition Apple (2026)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Multi-task Learning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Different crop species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Reference for co-occurring disease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Otsu Multi-Threshold (2023)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Otsu Multi-level Thresholding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Sensitive to light variations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Baseline for leaf segmentation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Recognition System Leaf Images (2017)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Contour Detection &amp; Morphological 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Traditional hand-crafted 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Lesion patch boundary extraction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Simple Copy-Paste (2021 - CVPR)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Copy-Paste Instance Augmentation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 agriculture specific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technique for dataset creation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Copy-Paste + Poisson Blending (2023)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Patch insertion + Poisson Seamless Blend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Medical domain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Inspiration for lesion blending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" name="Google Shape;164;p4"/>
          <p:cNvSpPr/>
          <p:nvPr/>
        </p:nvSpPr>
        <p:spPr>
          <a:xfrm>
            <a:off x="528637" y="2062162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085254" y="2062162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3868935" y="2062162"/>
            <a:ext cx="31176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986587" y="2062162"/>
            <a:ext cx="24495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9436149" y="2062162"/>
            <a:ext cx="222721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28637" y="2386012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085254" y="2386012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3868935" y="2386012"/>
            <a:ext cx="31176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986587" y="2386012"/>
            <a:ext cx="24495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9436149" y="2386012"/>
            <a:ext cx="222721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28637" y="285273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28637" y="317658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085254" y="317658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3868935" y="3176587"/>
            <a:ext cx="31176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986587" y="3176587"/>
            <a:ext cx="24495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9436149" y="3176587"/>
            <a:ext cx="222721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528637" y="350043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1085254" y="350043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3868935" y="3500437"/>
            <a:ext cx="31176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986587" y="3500437"/>
            <a:ext cx="24495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9436149" y="3500437"/>
            <a:ext cx="222721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28637" y="382428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1085254" y="382428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3868935" y="3824287"/>
            <a:ext cx="311765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6986587" y="3824287"/>
            <a:ext cx="24495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9436149" y="3824287"/>
            <a:ext cx="222721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Literature Survey</a:t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1238250"/>
            <a:ext cx="3587650" cy="1794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2025" y="1238250"/>
            <a:ext cx="3587799" cy="1794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0325" y="1238250"/>
            <a:ext cx="3587650" cy="1794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3223319"/>
            <a:ext cx="5453062" cy="1580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3223319"/>
            <a:ext cx="5453062" cy="1580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91850" y="533400"/>
            <a:ext cx="6762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"/>
          <p:cNvSpPr txBox="1"/>
          <p:nvPr/>
        </p:nvSpPr>
        <p:spPr>
          <a:xfrm>
            <a:off x="752475" y="1857375"/>
            <a:ext cx="33169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Multi-Disease Dataset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752475" y="2190750"/>
            <a:ext cx="3159025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 a realistic synthetic dataset of rice leaves with coexisting diseases under diverse orientations.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4530625" y="1857375"/>
            <a:ext cx="331713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Reusable Patch Library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4530625" y="2190750"/>
            <a:ext cx="3159174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Segment and extract high-quality, transparent RGBA disease lesions from single-disease leaves.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8308925" y="1857375"/>
            <a:ext cx="331697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Blending &amp; Copy-Paste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308925" y="2190750"/>
            <a:ext cx="3159025" cy="64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Utilize PCA-guided placement and Multi-band Laplacian Pyramid blending to generate seamless synthetic images.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752475" y="3842444"/>
            <a:ext cx="52756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Quality Metric Validation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752475" y="4175819"/>
            <a:ext cx="5024437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Validate synthetic image realism using full-reference (PSNR, SSIM) and non-reference (NIQE, BRISQUE, FID) metrics.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6443662" y="3842444"/>
            <a:ext cx="52756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Model Benchmarking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6443662" y="4175819"/>
            <a:ext cx="5024437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Provide a comprehensive baseline benchmark using CNN and Vision Transformer multi-label classification models.</a:t>
            </a:r>
            <a:endParaRPr/>
          </a:p>
        </p:txBody>
      </p:sp>
      <p:pic>
        <p:nvPicPr>
          <p:cNvPr descr="image.png" id="213" name="Google Shape;21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14763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0625" y="147637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08925" y="147637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475" y="3461444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43662" y="3461444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Objectives</a:t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3582144"/>
            <a:ext cx="11144250" cy="689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1682948"/>
            <a:ext cx="2137469" cy="1661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5644" y="1682948"/>
            <a:ext cx="2137469" cy="1661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7414" y="1682948"/>
            <a:ext cx="2137469" cy="1661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79183" y="1682948"/>
            <a:ext cx="2137469" cy="1661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30953" y="1682948"/>
            <a:ext cx="2137469" cy="1661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34700" y="648903"/>
            <a:ext cx="7334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6"/>
          <p:cNvSpPr txBox="1"/>
          <p:nvPr/>
        </p:nvSpPr>
        <p:spPr>
          <a:xfrm>
            <a:off x="523875" y="1238250"/>
            <a:ext cx="11144250" cy="2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The overall execution flow spans from multi-source dataset acquisition to multi-label deep learning model evaluation:</a:t>
            </a:r>
            <a:endParaRPr/>
          </a:p>
        </p:txBody>
      </p:sp>
      <p:pic>
        <p:nvPicPr>
          <p:cNvPr descr="image.png" id="233" name="Google Shape;23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25100" y="3798242"/>
            <a:ext cx="11906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 txBox="1"/>
          <p:nvPr/>
        </p:nvSpPr>
        <p:spPr>
          <a:xfrm>
            <a:off x="640459" y="2244923"/>
            <a:ext cx="1904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Collection &amp; Preprocessing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685800" y="2702123"/>
            <a:ext cx="1813619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MD5 &amp; pHash deduplication, CLAHE enhancement, and SAM2 background removal.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2892229" y="2344935"/>
            <a:ext cx="1904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Lesion Segmentation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2937569" y="2702123"/>
            <a:ext cx="1813619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SAM2 prompt segmentation &amp; contour detection to build RGBA patch library.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5143998" y="2344935"/>
            <a:ext cx="1904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Copy-Paste &amp; Blend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5189339" y="2702123"/>
            <a:ext cx="1813619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PCA placement, feathered alpha, and multi-band Laplacian pyramid blending.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7395768" y="2424856"/>
            <a:ext cx="1904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 Image Validation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7441108" y="2861964"/>
            <a:ext cx="181361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Quality check via PSNR, SSIM, BRISQUE, NIQE, and FID metrics.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9647537" y="2424856"/>
            <a:ext cx="1904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5. Model Benchmarking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9692878" y="2861964"/>
            <a:ext cx="181361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Multi-label classification using ViT, Swin, EfficientNet, and SVM.</a:t>
            </a:r>
            <a:endParaRPr/>
          </a:p>
        </p:txBody>
      </p:sp>
      <p:pic>
        <p:nvPicPr>
          <p:cNvPr descr="image.png" id="244" name="Google Shape;244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6275" y="381253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92597" y="190202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30079" y="190202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81848" y="190202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233618" y="190202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485387" y="190202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 txBox="1"/>
          <p:nvPr/>
        </p:nvSpPr>
        <p:spPr>
          <a:xfrm>
            <a:off x="1019175" y="3734544"/>
            <a:ext cx="57307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Key Innovation: PCA-Guided Placement + Laplacian Blending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1019175" y="3934569"/>
            <a:ext cx="5457825" cy="184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Ensures lesion orientation aligns naturally along leaf veins while blending low &amp; high frequencies seamlessly.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261937" y="23813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Architecture &amp; Pipeline</a:t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887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662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6"/>
          <p:cNvSpPr txBox="1"/>
          <p:nvPr/>
        </p:nvSpPr>
        <p:spPr>
          <a:xfrm>
            <a:off x="633151" y="218837"/>
            <a:ext cx="61938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Architecture &amp; Pipeline</a:t>
            </a:r>
            <a:endParaRPr/>
          </a:p>
        </p:txBody>
      </p:sp>
      <p:pic>
        <p:nvPicPr>
          <p:cNvPr descr="image.png" id="257" name="Google Shape;25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84452" y="252413"/>
            <a:ext cx="7334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619500" y="904875"/>
            <a:ext cx="4953000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887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5062" y="1296002"/>
            <a:ext cx="5453062" cy="1798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1238250"/>
            <a:ext cx="5453062" cy="1856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875" y="3246834"/>
            <a:ext cx="5453062" cy="1856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3175" y="533400"/>
            <a:ext cx="15049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 txBox="1"/>
          <p:nvPr/>
        </p:nvSpPr>
        <p:spPr>
          <a:xfrm>
            <a:off x="752475" y="1438275"/>
            <a:ext cx="52756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Duplicate Removal Pipeline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752475" y="1771650"/>
            <a:ext cx="5024437" cy="2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Combines exact hash filtering with perceptual hashing to clean source datasets:</a:t>
            </a:r>
            <a:endParaRPr/>
          </a:p>
        </p:txBody>
      </p:sp>
      <p:sp>
        <p:nvSpPr>
          <p:cNvPr id="270" name="Google Shape;270;p7"/>
          <p:cNvSpPr txBox="1"/>
          <p:nvPr/>
        </p:nvSpPr>
        <p:spPr>
          <a:xfrm>
            <a:off x="752475" y="3446859"/>
            <a:ext cx="52756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Contrast Enhancement &amp; Filtering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752475" y="3780234"/>
            <a:ext cx="5024437" cy="2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Applies local contrast adaptation without over-amplifying background noise: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6415087" y="1438275"/>
            <a:ext cx="53056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SAM2 + HSV Background Removal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6415087" y="1771650"/>
            <a:ext cx="5053012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Isolates green rice leaf structures from noisy field backgrounds using Segment Anything Model 2 (SAM2) guided by HSV green-chroma prompts.</a:t>
            </a:r>
            <a:endParaRPr/>
          </a:p>
        </p:txBody>
      </p:sp>
      <p:pic>
        <p:nvPicPr>
          <p:cNvPr descr="image.png" id="274" name="Google Shape;2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2475" y="14859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 txBox="1"/>
          <p:nvPr/>
        </p:nvSpPr>
        <p:spPr>
          <a:xfrm>
            <a:off x="981075" y="2061864"/>
            <a:ext cx="4795837" cy="2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MD5 Hashing: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Instantly eliminates bit-exact identical duplicate images.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981075" y="2371129"/>
            <a:ext cx="4795837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pHash (Perceptual Hash):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Detects near-duplicates caused by resizing or minor compression.</a:t>
            </a:r>
            <a:endParaRPr/>
          </a:p>
        </p:txBody>
      </p:sp>
      <p:pic>
        <p:nvPicPr>
          <p:cNvPr descr="image.png" id="277" name="Google Shape;27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475" y="349448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"/>
          <p:cNvSpPr txBox="1"/>
          <p:nvPr/>
        </p:nvSpPr>
        <p:spPr>
          <a:xfrm>
            <a:off x="981075" y="4070449"/>
            <a:ext cx="4795837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CLAHE: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Adaptive histogram equalization over 8x8 tiles to sharpen subtle lesion margins.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981075" y="4593728"/>
            <a:ext cx="4795837" cy="2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Gaussian Blur (3x3):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Softens high-frequency noise prior to background removal.</a:t>
            </a:r>
            <a:endParaRPr/>
          </a:p>
        </p:txBody>
      </p:sp>
      <p:pic>
        <p:nvPicPr>
          <p:cNvPr descr="image.png" id="280" name="Google Shape;28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15087" y="14859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7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Data Cleaning &amp; Image Enhancement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3" name="Google Shape;283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208091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2390179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4089499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2475" y="4612778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5" y="-8662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1238250"/>
            <a:ext cx="5453062" cy="1294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238250"/>
            <a:ext cx="5453062" cy="1161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552104"/>
            <a:ext cx="5453062" cy="1875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3175" y="533400"/>
            <a:ext cx="15049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8"/>
          <p:cNvSpPr txBox="1"/>
          <p:nvPr/>
        </p:nvSpPr>
        <p:spPr>
          <a:xfrm>
            <a:off x="723900" y="1438275"/>
            <a:ext cx="53056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Lesion Mask Generation</a:t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723900" y="1771650"/>
            <a:ext cx="5053012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Segments individual disease symptoms (Bacterial Leaf Blight, Rice Blast, Brown Spot) using SAM2 zero-shot segmentation combined with adaptive binary thresholding.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6443662" y="1438275"/>
            <a:ext cx="52756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SAM2 Assisted Segmentation</a:t>
            </a:r>
            <a:endParaRPr/>
          </a:p>
        </p:txBody>
      </p:sp>
      <p:sp>
        <p:nvSpPr>
          <p:cNvPr id="299" name="Google Shape;299;p8"/>
          <p:cNvSpPr txBox="1"/>
          <p:nvPr/>
        </p:nvSpPr>
        <p:spPr>
          <a:xfrm>
            <a:off x="6443662" y="1771650"/>
            <a:ext cx="5024437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Zero-shot promptable segmentation predicts precise boundaries around irregular fungal and bacterial lesions.</a:t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6443662" y="2752129"/>
            <a:ext cx="52756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RGBA Transparent Patch Creation</a:t>
            </a:r>
            <a:endParaRPr/>
          </a:p>
        </p:txBody>
      </p:sp>
      <p:pic>
        <p:nvPicPr>
          <p:cNvPr descr="image.png" id="301" name="Google Shape;30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3900" y="148590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43662" y="14859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43662" y="2799754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8"/>
          <p:cNvSpPr txBox="1"/>
          <p:nvPr/>
        </p:nvSpPr>
        <p:spPr>
          <a:xfrm>
            <a:off x="6672262" y="3085504"/>
            <a:ext cx="4795837" cy="2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Contour Bounding: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Isolates individual disease spots into tight bounding boxes.</a:t>
            </a:r>
            <a:endParaRPr/>
          </a:p>
        </p:txBody>
      </p:sp>
      <p:sp>
        <p:nvSpPr>
          <p:cNvPr id="305" name="Google Shape;305;p8"/>
          <p:cNvSpPr txBox="1"/>
          <p:nvPr/>
        </p:nvSpPr>
        <p:spPr>
          <a:xfrm>
            <a:off x="6672262" y="3394769"/>
            <a:ext cx="4795837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Alpha Channel Encoding: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Exports extracted patches as 4-channel RGBA images with smooth transparency masks.</a:t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6672262" y="3918049"/>
            <a:ext cx="4795837" cy="2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Patch Library: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Built a reusable repository of 500+ segmented disease lesions.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Lesion Segmentation &amp; Patch Extraction</a:t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9" name="Google Shape;309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43662" y="310455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43662" y="3413819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43662" y="3937099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5" y="-202132"/>
            <a:ext cx="12192000" cy="7060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5062" y="1238250"/>
            <a:ext cx="5453062" cy="1313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875" y="1238250"/>
            <a:ext cx="5453062" cy="1161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63175" y="533400"/>
            <a:ext cx="15049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9"/>
          <p:cNvSpPr txBox="1"/>
          <p:nvPr/>
        </p:nvSpPr>
        <p:spPr>
          <a:xfrm>
            <a:off x="752475" y="1438275"/>
            <a:ext cx="52756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PCA-Guided Placement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752475" y="1771650"/>
            <a:ext cx="5024437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Uses Principal Component Analysis (PCA) on target leaf binary masks to calculate the primary leaf axis orientation, orienting pasted lesions along natural leaf veins.</a:t>
            </a:r>
            <a:endParaRPr/>
          </a:p>
        </p:txBody>
      </p:sp>
      <p:sp>
        <p:nvSpPr>
          <p:cNvPr id="322" name="Google Shape;322;p9"/>
          <p:cNvSpPr txBox="1"/>
          <p:nvPr/>
        </p:nvSpPr>
        <p:spPr>
          <a:xfrm>
            <a:off x="752475" y="3972073"/>
            <a:ext cx="5024437" cy="193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87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3" name="Google Shape;323;p9"/>
          <p:cNvSpPr txBox="1"/>
          <p:nvPr/>
        </p:nvSpPr>
        <p:spPr>
          <a:xfrm>
            <a:off x="6415087" y="1438275"/>
            <a:ext cx="53056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Synthetic Multi-Disease Output</a:t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6415087" y="1771650"/>
            <a:ext cx="5053012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Combines feathered alpha masks with multi-band pyramid decomposition to generate seamless multi-disease rice leaves without hard border artifacts.</a:t>
            </a:r>
            <a:endParaRPr/>
          </a:p>
        </p:txBody>
      </p:sp>
      <p:pic>
        <p:nvPicPr>
          <p:cNvPr descr="image.png" id="325" name="Google Shape;32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14859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5087" y="14859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9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Copy-Paste &amp; Blending Synthesis</a:t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6975" y="533400"/>
            <a:ext cx="15811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0"/>
          <p:cNvSpPr/>
          <p:nvPr/>
        </p:nvSpPr>
        <p:spPr>
          <a:xfrm>
            <a:off x="523875" y="1238250"/>
            <a:ext cx="11144250" cy="32861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6" name="Google Shape;336;p10"/>
          <p:cNvGraphicFramePr/>
          <p:nvPr/>
        </p:nvGraphicFramePr>
        <p:xfrm>
          <a:off x="523875" y="1238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{920D88DF-31F2-450D-AD7F-80F9E4D47D73}</a:tableStyleId>
              </a:tblPr>
              <a:tblGrid>
                <a:gridCol w="556625"/>
                <a:gridCol w="2783675"/>
                <a:gridCol w="3897075"/>
                <a:gridCol w="3897350"/>
              </a:tblGrid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Pipeline Stage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Methods Explored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Final Method Selected &amp; Rationale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Dataset Collection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Single public dataset, Multiple datasets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0284C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Multiple datasets (Paddy Doctor, Kaggle, UCI)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Duplicate Removal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MD5 Hashing, pHash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0284C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MD5 + pHash Hybrid</a:t>
                      </a: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(Exact &amp; near-duplicate filtering)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Image Enhancement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CLAHE, Gaussian Blur, Histogram Equalization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0284C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CLAHE + Gaussian Blur</a:t>
                      </a: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(Sharpens lesion boundaries)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Background Removal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BiRefNet, HSV Thresholding, SAM2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0284C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SAM2 + HSV prompts</a:t>
                      </a: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(Superior leaf boundary isolation)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Lesion Segmentation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 annotation, SAM-assisted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0284C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SAM2 Segmentation</a:t>
                      </a: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(Zero-shot precision masks)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Lesion Extraction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v1, v2, v3 (Binary threshold + Contours)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0284C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Binary Threshold + Contour RGBA Patch Creation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Leaf Masking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Otsu Thresholding, GrabCut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0284C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Otsu + GrabCut Hybrid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Lesion Placement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placement, PCA-guided alignment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0284C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PCA-Guided Alignment</a:t>
                      </a: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(Follows natural leaf vein direction)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8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Copy-Paste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Simple, Feathered Alpha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37" u="none" cap="none" strike="noStrike">
                          <a:solidFill>
                            <a:srgbClr val="0284C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Feathered Alpha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7" name="Google Shape;337;p10"/>
          <p:cNvSpPr/>
          <p:nvPr/>
        </p:nvSpPr>
        <p:spPr>
          <a:xfrm>
            <a:off x="528637" y="191928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1085254" y="191928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868935" y="1919287"/>
            <a:ext cx="3897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7766000" y="1919287"/>
            <a:ext cx="38973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528637" y="224313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085254" y="224313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3868935" y="2243137"/>
            <a:ext cx="3897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7766000" y="2243137"/>
            <a:ext cx="38973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28637" y="256698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1085254" y="256698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3868935" y="2566987"/>
            <a:ext cx="3897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7766000" y="2566987"/>
            <a:ext cx="38973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28637" y="289083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1085254" y="289083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868935" y="2890837"/>
            <a:ext cx="3897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7766000" y="2890837"/>
            <a:ext cx="38973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528637" y="321468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1085254" y="321468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3868935" y="3214687"/>
            <a:ext cx="3897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7766000" y="3214687"/>
            <a:ext cx="38973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528637" y="353853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085254" y="353853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3868935" y="3538537"/>
            <a:ext cx="3897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7766000" y="3538537"/>
            <a:ext cx="38973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28637" y="386238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1085254" y="386238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868935" y="3862387"/>
            <a:ext cx="3897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7766000" y="3862387"/>
            <a:ext cx="38973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528637" y="4186237"/>
            <a:ext cx="5566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1085254" y="4186237"/>
            <a:ext cx="278368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868935" y="4186237"/>
            <a:ext cx="3897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7766000" y="4186237"/>
            <a:ext cx="38973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Methodology Adopted</a:t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5" y="-8662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1238250"/>
            <a:ext cx="9361270" cy="16180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63125" y="533400"/>
            <a:ext cx="1905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1"/>
          <p:cNvSpPr txBox="1"/>
          <p:nvPr/>
        </p:nvSpPr>
        <p:spPr>
          <a:xfrm>
            <a:off x="752475" y="1438275"/>
            <a:ext cx="527565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</a:t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752475" y="1809750"/>
            <a:ext cx="9132670" cy="4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systematic, reproducible end-to-end pipeline was developed to generate high-fidelity synthetic rice leaf images exhibiting multiple coexisting diseases.</a:t>
            </a:r>
            <a:endParaRPr/>
          </a:p>
        </p:txBody>
      </p:sp>
      <p:sp>
        <p:nvSpPr>
          <p:cNvPr id="380" name="Google Shape;380;p11"/>
          <p:cNvSpPr txBox="1"/>
          <p:nvPr/>
        </p:nvSpPr>
        <p:spPr>
          <a:xfrm>
            <a:off x="752475" y="2333029"/>
            <a:ext cx="8680283" cy="192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By integrating SAM2 segmentation with copy-paste augmentation,  realistic multi-label rice leaf datasets were successfully generated.</a:t>
            </a:r>
            <a:endParaRPr b="1" i="0" sz="105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381" name="Google Shape;38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" y="14859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1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 &amp; Future Enhancements</a:t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8" name="Google Shape;3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1238250"/>
            <a:ext cx="11144250" cy="37537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5" y="533400"/>
            <a:ext cx="9525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2"/>
          <p:cNvSpPr txBox="1"/>
          <p:nvPr/>
        </p:nvSpPr>
        <p:spPr>
          <a:xfrm>
            <a:off x="704850" y="1419225"/>
            <a:ext cx="10782300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[1]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A. Petchiammal, S. Briskline Kiruba, D. Murugan, and A. Pandarasamy, "Paddy Doctor: A Visual Image Dataset for Automated Paddy Disease Classification and Benchmarking," </a:t>
            </a:r>
            <a:r>
              <a:rPr b="0" i="1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IEEE Access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May 2022.</a:t>
            </a:r>
            <a:endParaRPr/>
          </a:p>
        </p:txBody>
      </p:sp>
      <p:sp>
        <p:nvSpPr>
          <p:cNvPr id="392" name="Google Shape;392;p12"/>
          <p:cNvSpPr txBox="1"/>
          <p:nvPr/>
        </p:nvSpPr>
        <p:spPr>
          <a:xfrm>
            <a:off x="704850" y="1923454"/>
            <a:ext cx="10782300" cy="2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[2]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Md. F. Hossain, "Dhan-Shomadhan: A Dataset of Rice Leaf Disease Classification for Bangladeshi Local Rice," </a:t>
            </a:r>
            <a:r>
              <a:rPr b="0" i="1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Mendeley Data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Sept. 2023.</a:t>
            </a:r>
            <a:endParaRPr/>
          </a:p>
        </p:txBody>
      </p:sp>
      <p:sp>
        <p:nvSpPr>
          <p:cNvPr id="393" name="Google Shape;393;p12"/>
          <p:cNvSpPr txBox="1"/>
          <p:nvPr/>
        </p:nvSpPr>
        <p:spPr>
          <a:xfrm>
            <a:off x="704850" y="2213669"/>
            <a:ext cx="10782300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[3]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Md. Nurullah, R. Hodhod, H. Carroll, and Y. Zhou, "Advancing Multi-Label Tomato Leaf Disease Identification Using Vision Transformer and EfficientNet with Explainable AI Techniques," </a:t>
            </a:r>
            <a:r>
              <a:rPr b="0" i="1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IEEE Access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Dec. 2025.</a:t>
            </a:r>
            <a:endParaRPr/>
          </a:p>
        </p:txBody>
      </p:sp>
      <p:sp>
        <p:nvSpPr>
          <p:cNvPr id="394" name="Google Shape;394;p12"/>
          <p:cNvSpPr txBox="1"/>
          <p:nvPr/>
        </p:nvSpPr>
        <p:spPr>
          <a:xfrm>
            <a:off x="704850" y="2717899"/>
            <a:ext cx="10782300" cy="2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[4]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F. A. Ahmed and H. K. R. Singh, "Study on Image Background Removal using Deep Learning," </a:t>
            </a:r>
            <a:r>
              <a:rPr b="0" i="1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Journal of Data Science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vol. 2024, May 2024.</a:t>
            </a:r>
            <a:endParaRPr/>
          </a:p>
        </p:txBody>
      </p:sp>
      <p:sp>
        <p:nvSpPr>
          <p:cNvPr id="395" name="Google Shape;395;p12"/>
          <p:cNvSpPr txBox="1"/>
          <p:nvPr/>
        </p:nvSpPr>
        <p:spPr>
          <a:xfrm>
            <a:off x="704850" y="3008114"/>
            <a:ext cx="10782300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[5]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S. Okyere-Gyamfi, M. Asante, and K. O. Peasah, "Contrast limited adaptive histogram equalization (CLAHE) and colour difference histogram feature merging capsule network for image recognition," Oct. 2025.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704850" y="3512343"/>
            <a:ext cx="10782300" cy="21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[6]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Y. Guo, Y. Wang, K. Meng, and Z. Zhu, "Otsu Multi-Threshold Image Segmentation Based on Adaptive Double-Mutation Differential Evolution," </a:t>
            </a:r>
            <a:r>
              <a:rPr b="0" i="1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Sensors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Sept. 2023.</a:t>
            </a:r>
            <a:endParaRPr/>
          </a:p>
        </p:txBody>
      </p:sp>
      <p:sp>
        <p:nvSpPr>
          <p:cNvPr id="397" name="Google Shape;397;p12"/>
          <p:cNvSpPr txBox="1"/>
          <p:nvPr/>
        </p:nvSpPr>
        <p:spPr>
          <a:xfrm>
            <a:off x="704850" y="3802558"/>
            <a:ext cx="10782300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[7]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G. Ghiasi, Y. Cui, A. Srinivas, R. Qian, T. Y. Lin, and E. D. Cubuk, "Simple Copy-Paste is a Strong Data Augmentation Method for Instance Segmentation," in </a:t>
            </a:r>
            <a:r>
              <a:rPr b="0" i="1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Proc. IEEE/CVF CVPR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2021, pp. 2917-2927.</a:t>
            </a:r>
            <a:endParaRPr/>
          </a:p>
        </p:txBody>
      </p:sp>
      <p:sp>
        <p:nvSpPr>
          <p:cNvPr id="398" name="Google Shape;398;p12"/>
          <p:cNvSpPr txBox="1"/>
          <p:nvPr/>
        </p:nvSpPr>
        <p:spPr>
          <a:xfrm>
            <a:off x="704850" y="4306788"/>
            <a:ext cx="10782300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[8]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S. Mehta, T. Negandhi, and P. Bhavathankar, "Generative Adversarial Networks for Image Augmentation: Architecture, Training, and Real World Applications," in </a:t>
            </a:r>
            <a:r>
              <a:rPr b="0" i="1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Proc. APCIT</a:t>
            </a:r>
            <a:r>
              <a:rPr b="0" i="0" lang="en-US" sz="1087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2025.</a:t>
            </a:r>
            <a:endParaRPr/>
          </a:p>
        </p:txBody>
      </p:sp>
      <p:sp>
        <p:nvSpPr>
          <p:cNvPr id="399" name="Google Shape;399;p12"/>
          <p:cNvSpPr txBox="1"/>
          <p:nvPr/>
        </p:nvSpPr>
        <p:spPr>
          <a:xfrm>
            <a:off x="523875" y="428625"/>
            <a:ext cx="1166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523875" y="981075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