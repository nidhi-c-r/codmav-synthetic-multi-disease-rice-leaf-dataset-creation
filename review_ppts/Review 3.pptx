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C33Ke7S0h/za7/SiVBOejZBxq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3CBD6D-8F88-4CB1-81E9-B5CA9C36CA7C}">
  <a:tblStyle styleId="{0D3CBD6D-8F88-4CB1-81E9-B5CA9C36CA7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17C14C1-7FFF-4A5A-AF44-F0542414A1D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0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135" y="0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59774f730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59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59774f730_1_31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f59774f730_1_31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59774f730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59774f730_1_2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f59774f730_1_24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9774f730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59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59774f730_1_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59774f730_1_4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59774f730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59774f730_1_1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f59774f730_1_15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20" descr="PESSAT - All India Online Entrance Exam for Admission to PES University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67336" y="365125"/>
            <a:ext cx="11620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" y="489315"/>
            <a:ext cx="2362200" cy="5334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1371600" y="2011308"/>
            <a:ext cx="79248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Summer Internship, June-July,2026– CODMAV</a:t>
            </a:r>
            <a:endParaRPr/>
          </a:p>
          <a:p>
            <a:pPr marL="342891" marR="0" lvl="0" indent="-342891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Review-3</a:t>
            </a:r>
            <a:endParaRPr sz="2800" b="1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1981200" y="2951500"/>
            <a:ext cx="8458200" cy="2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SYNTHETIC DATASET CREATION FOR         COEXISTING DISEASES IN RICE LEAF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09</a:t>
            </a: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Prof Swetha Patil             </a:t>
            </a: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Members  : Nidhi CR, PES2UG23CS382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      Jayashree D, PES2UG24CS203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Deliverable Submitted: IEEE  Paper Draft/Proof of Concept</a:t>
            </a:r>
            <a:endParaRPr sz="2000" b="0" i="0" u="none" strike="noStrike" cap="non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review-2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Design(Architecture/Flowchart/use case diagram/or Class Diagram)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Methodology Adopted- Algorithms/Techniques Adopted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Implementation- Code snippets 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– output screenshots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and Future Enhancement</a:t>
            </a:r>
            <a:endParaRPr/>
          </a:p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1143000" y="1617668"/>
            <a:ext cx="9144000" cy="447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</a:t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1143000" y="1859350"/>
            <a:ext cx="95250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This work focuses on developing a synthetic multi-disease rice leaf dataset to address the lack of publicly available datasets containing multiple diseases on a single rice leaf.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The proposed pipeline involves dataset collection, preprocessing, lesion segmentation, disease patch extraction, copy-paste augmentation, and multi-band Laplacian pyramid blending to generate realistic multi-disease images. The generated dataset is validated using image quality metrics such as PSNR and SSIM and further evaluated using multi-label classification models to assess its effectiveness for disease recognition.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143000" y="19050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3320525" y="1143000"/>
            <a:ext cx="734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 and Research Gaps Identified</a:t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447800" y="2050650"/>
            <a:ext cx="92202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rice leaf disease datasets primarily contain images of individual leaves affected by a single disease. While these datasets are widely used for disease analysis and model development, they do not adequately represent real-world field conditions where multiple diseases can occur simultaneously on the same leaf. The absence of publicly available multi-disease rice leaf datasets creates a significant gap in agricultural image resources and limits research on disease co-occurrence and multi-disease analysis. Therefore, there is a need for a    dedicated dataset   containing    rice  leaf  images exhibiting multiple diseases on a single leaf.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762000" y="1443841"/>
            <a:ext cx="101346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1.Lack of Multi-Disease Rice Leaf Datasets Existing rice disease datasets mainly contain single-leaf, single-disease images.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2.Poor Representation of Real Field Conditions Current datasets do not adequately capture disease co-occurrence observed in agricultural fields.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3.Limited Rice-Specific Multi-Label Resources Most multi-label disease studies focus on crops such as tomato and apple rather than rice.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4.Emphasis on Classification Over Dataset Development Existing research primarily develops disease detection models instead of creating new datasets.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5.Limited Use of Image Synthesis for Dataset Expansion Advanced image synthesis techniques are rarely used to generate multi-disease rice leaf samples.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143000" y="19050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Survey</a:t>
            </a:r>
            <a:endParaRPr/>
          </a:p>
        </p:txBody>
      </p:sp>
      <p:graphicFrame>
        <p:nvGraphicFramePr>
          <p:cNvPr id="119" name="Google Shape;119;p6"/>
          <p:cNvGraphicFramePr/>
          <p:nvPr/>
        </p:nvGraphicFramePr>
        <p:xfrm>
          <a:off x="609600" y="2055821"/>
          <a:ext cx="10744225" cy="4666120"/>
        </p:xfrm>
        <a:graphic>
          <a:graphicData uri="http://schemas.openxmlformats.org/drawingml/2006/table">
            <a:tbl>
              <a:tblPr firstRow="1" bandRow="1">
                <a:noFill/>
                <a:tableStyleId>{0D3CBD6D-8F88-4CB1-81E9-B5CA9C36CA7C}</a:tableStyleId>
              </a:tblPr>
              <a:tblGrid>
                <a:gridCol w="9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Sl.No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Paper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Technique / Method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Limitation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Relevance to Project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Paddy Doctor (2022)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Rice disease dataset creation &amp; benchmarking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Single-disease images only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Source dataset for BLB, Blast and Brown Spot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2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Advanced Multi-Label Tomato Leaf Disease Identification (2025)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ViT + EfficientNet + Multi-label Classification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Tomato domain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Supports multi-label disease learning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Mixed Disease Recognition in Apple Leaves (2026)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Multi-task Learning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Different crop species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Closest reference to multi-disease recognition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Otsu Multi-Threshold Image Segmentation (2023)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Otsu Thresholding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Sensitive to illumination variation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Lesion segmentation baseline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7"/>
          <p:cNvGraphicFramePr/>
          <p:nvPr/>
        </p:nvGraphicFramePr>
        <p:xfrm>
          <a:off x="838200" y="1447800"/>
          <a:ext cx="9982225" cy="4267230"/>
        </p:xfrm>
        <a:graphic>
          <a:graphicData uri="http://schemas.openxmlformats.org/drawingml/2006/table">
            <a:tbl>
              <a:tblPr firstRow="1" bandRow="1">
                <a:noFill/>
                <a:tableStyleId>{0D3CBD6D-8F88-4CB1-81E9-B5CA9C36CA7C}</a:tableStyleId>
              </a:tblPr>
              <a:tblGrid>
                <a:gridCol w="104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/>
                        <a:t>    Sl.No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Paper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Technique / Method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Relevance to Project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Recognition System for Leaf Images (2017)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Contour Detection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Traditional method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Disease patch boundary extraction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Simple Copy-Paste Augmentation (2021)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Copy-Paste Augmentation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Not agriculture-specific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Key technique for dataset creation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Copy-Paste with Poisson Blending (2023)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Copy-Paste + Poisson Blending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Medical domain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Direct inspiration for lesion insertion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Image Quality Assessment Study (2019)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SSIM, PSNR, MSE, FSIM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Not plant-specific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Dataset quality validation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Review -2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1600200" y="2362200"/>
            <a:ext cx="100126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with blending and prepare a proper augmented dataset with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Combination classes</a:t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1752600" y="3886200"/>
            <a:ext cx="84176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Model training explore 3-4 methods and validate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 </a:t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1524000" y="2414523"/>
            <a:ext cx="80772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create a realistic synthetic rice leaf dataset containing multiple coexisting diseases.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extract disease lesions and build a reusable disease patch library from single-disease images. 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generate high-quality multi-disease images using copy-paste augmentation and blending techniques.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validate the generated dataset using image quality metrics and multi-label classification models. 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provide a benchmark dataset for future research on multi-disease rice leaf analysis.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2651125" y="10157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2309727" y="522043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</a:t>
            </a:r>
            <a:endParaRPr/>
          </a:p>
        </p:txBody>
      </p:sp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500" y="1533554"/>
            <a:ext cx="4952999" cy="50482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 txBox="1"/>
          <p:nvPr/>
        </p:nvSpPr>
        <p:spPr>
          <a:xfrm>
            <a:off x="5318125" y="1533557"/>
            <a:ext cx="64770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1.Single-disease rice leaf datasets are collected and        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preprocesssed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through cleaning and image enhancement techniques.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2.Disease lesions are segmented and extracted to create a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disease patch library for further processing 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3.Extracted disease patches are combined using copy-paste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Augmentation and blending techniques to generate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multi-disease rice leaf images.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4.The generated images are validated , annotated and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organized into a multi –label dataset 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5.Multi-label classification models are used to evaluate            dataset quality and verify the effectiveness of the created dataset 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1905000" y="1143002"/>
            <a:ext cx="876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Methodology Adopted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914400" y="1752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62" name="Google Shape;162;p11"/>
          <p:cNvGraphicFramePr/>
          <p:nvPr/>
        </p:nvGraphicFramePr>
        <p:xfrm>
          <a:off x="1125245" y="1761814"/>
          <a:ext cx="9525000" cy="4586615"/>
        </p:xfrm>
        <a:graphic>
          <a:graphicData uri="http://schemas.openxmlformats.org/drawingml/2006/table">
            <a:tbl>
              <a:tblPr firstRow="1" bandRow="1">
                <a:noFill/>
                <a:tableStyleId>{0D3CBD6D-8F88-4CB1-81E9-B5CA9C36CA7C}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SL.No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       Stage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 Methods Explored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Final   Method  Used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Collection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dataset 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public datasets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public datasets (Blast, BLB, Brown Spot)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 Removal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MD5, pHash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MD5 + pHash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Enhancement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CLAHE  ,  Gaussian Blur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CLAHE + Gaussian Blur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Background Removal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BiRefNet ,HSV ,SAM2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SAM2 + HSV prompts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/>
                        <a:t>  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Lesion Annotation and Lesion Segmentation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, SAM-assisted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SAM2 segmentation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Lesion Extraction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v1, v2,v3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 thresholding, contour detection, RGBA patch creation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12"/>
          <p:cNvGraphicFramePr/>
          <p:nvPr>
            <p:extLst>
              <p:ext uri="{D42A27DB-BD31-4B8C-83A1-F6EECF244321}">
                <p14:modId xmlns:p14="http://schemas.microsoft.com/office/powerpoint/2010/main" val="1261941795"/>
              </p:ext>
            </p:extLst>
          </p:nvPr>
        </p:nvGraphicFramePr>
        <p:xfrm>
          <a:off x="990600" y="1143000"/>
          <a:ext cx="10210800" cy="5055910"/>
        </p:xfrm>
        <a:graphic>
          <a:graphicData uri="http://schemas.openxmlformats.org/drawingml/2006/table">
            <a:tbl>
              <a:tblPr firstRow="1" bandRow="1">
                <a:noFill/>
                <a:tableStyleId>{0D3CBD6D-8F88-4CB1-81E9-B5CA9C36CA7C}</a:tableStyleId>
              </a:tblPr>
              <a:tblGrid>
                <a:gridCol w="143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SL.No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   Stage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Methods  Explored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Final Method Used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Leaf Masking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Otsu , GrabCut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Otsu + GrabCut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8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Lesion Placement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, PCA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PCA-guided placement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9 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Copy-Paste</a:t>
                      </a:r>
                      <a:endParaRPr sz="18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, Feathered alpha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Feathered alpha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10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     </a:t>
                      </a:r>
                      <a:r>
                        <a:rPr lang="en-IN" sz="1800" b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Blending</a:t>
                      </a:r>
                      <a:endParaRPr sz="18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Gaussian , Alpha , Poisson ,Multi-band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Multi-band Laplacian Pyramid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i="0"/>
                        <a:t>      </a:t>
                      </a:r>
                      <a:r>
                        <a:rPr lang="en-IN" sz="18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Augmentation</a:t>
                      </a:r>
                      <a:endParaRPr sz="1800" b="0" i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Geometric/photometric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  Geometric and photometric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  Dataset  Validation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PSNR; SSIM  ,NIQE , BRISQUE, FID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PSNR + SSIM, NIQE, BRISQUE, FID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13 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Evaluation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    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,EfficientNet, ViT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SVM, </a:t>
                      </a:r>
                      <a:r>
                        <a:rPr lang="en-IN" sz="1800" dirty="0" err="1"/>
                        <a:t>EfficientNet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ViT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/>
          <p:nvPr/>
        </p:nvSpPr>
        <p:spPr>
          <a:xfrm>
            <a:off x="2971800" y="136923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2895600" y="907527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</a:t>
            </a:r>
            <a:endParaRPr/>
          </a:p>
        </p:txBody>
      </p:sp>
      <p:pic>
        <p:nvPicPr>
          <p:cNvPr id="174" name="Google Shape;1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375" y="1829618"/>
            <a:ext cx="7251502" cy="493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91076"/>
            <a:ext cx="4550575" cy="44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 txBox="1"/>
          <p:nvPr/>
        </p:nvSpPr>
        <p:spPr>
          <a:xfrm>
            <a:off x="304275" y="1580875"/>
            <a:ext cx="42864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Extraction and copy-paste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f59774f730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275" y="1494625"/>
            <a:ext cx="6267450" cy="51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59774f730_1_31"/>
          <p:cNvSpPr txBox="1"/>
          <p:nvPr/>
        </p:nvSpPr>
        <p:spPr>
          <a:xfrm>
            <a:off x="2962275" y="819925"/>
            <a:ext cx="17661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Blending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f59774f730_1_24"/>
          <p:cNvPicPr preferRelativeResize="0"/>
          <p:nvPr/>
        </p:nvPicPr>
        <p:blipFill rotWithShape="1">
          <a:blip r:embed="rId3">
            <a:alphaModFix/>
          </a:blip>
          <a:srcRect l="3349"/>
          <a:stretch/>
        </p:blipFill>
        <p:spPr>
          <a:xfrm>
            <a:off x="1036947" y="4488975"/>
            <a:ext cx="7972377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59774f730_1_24"/>
          <p:cNvPicPr preferRelativeResize="0"/>
          <p:nvPr/>
        </p:nvPicPr>
        <p:blipFill rotWithShape="1">
          <a:blip r:embed="rId4">
            <a:alphaModFix/>
          </a:blip>
          <a:srcRect l="3349"/>
          <a:stretch/>
        </p:blipFill>
        <p:spPr>
          <a:xfrm>
            <a:off x="1036947" y="2057106"/>
            <a:ext cx="7972377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59774f730_1_24"/>
          <p:cNvSpPr txBox="1"/>
          <p:nvPr/>
        </p:nvSpPr>
        <p:spPr>
          <a:xfrm>
            <a:off x="760675" y="1362600"/>
            <a:ext cx="37305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609600" y="1571949"/>
            <a:ext cx="10058400" cy="45719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</a:t>
            </a:r>
            <a:endParaRPr/>
          </a:p>
        </p:txBody>
      </p:sp>
      <p:pic>
        <p:nvPicPr>
          <p:cNvPr id="198" name="Google Shape;19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209800"/>
            <a:ext cx="21336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6113" y="2209799"/>
            <a:ext cx="21336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5">
            <a:alphaModFix/>
          </a:blip>
          <a:srcRect l="55686"/>
          <a:stretch/>
        </p:blipFill>
        <p:spPr>
          <a:xfrm>
            <a:off x="5600332" y="2209799"/>
            <a:ext cx="21336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551" y="2201661"/>
            <a:ext cx="2133601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 txBox="1"/>
          <p:nvPr/>
        </p:nvSpPr>
        <p:spPr>
          <a:xfrm>
            <a:off x="571500" y="1660075"/>
            <a:ext cx="416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Blast on Brownspot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4" title="blb_on_brownspot_brown_spot (90)_multiband_final_orig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6126" y="4643725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/>
        </p:nvSpPr>
        <p:spPr>
          <a:xfrm>
            <a:off x="6565450" y="1617675"/>
            <a:ext cx="291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BLB on Brownspot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4" title="blb_on_brownspot_brown_spot (101)_multiband_final_orig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0325" y="4630727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3769175" y="4129775"/>
            <a:ext cx="221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BLB on Blast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f59774f730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488" y="1338025"/>
            <a:ext cx="2846848" cy="2486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f59774f730_1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50" y="1338025"/>
            <a:ext cx="2770844" cy="248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f59774f730_1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025" y="1338025"/>
            <a:ext cx="2770850" cy="24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f59774f730_1_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2700" y="4110475"/>
            <a:ext cx="2770851" cy="241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f59774f730_1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0313" y="4075000"/>
            <a:ext cx="2846825" cy="248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59774f730_1_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63900" y="4075000"/>
            <a:ext cx="2728949" cy="24862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59774f730_1_4"/>
          <p:cNvSpPr txBox="1"/>
          <p:nvPr/>
        </p:nvSpPr>
        <p:spPr>
          <a:xfrm>
            <a:off x="3822163" y="457875"/>
            <a:ext cx="29595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Multi-labels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g3f59774f730_1_15"/>
          <p:cNvGraphicFramePr/>
          <p:nvPr/>
        </p:nvGraphicFramePr>
        <p:xfrm>
          <a:off x="952500" y="2667000"/>
          <a:ext cx="10287000" cy="1981050"/>
        </p:xfrm>
        <a:graphic>
          <a:graphicData uri="http://schemas.openxmlformats.org/drawingml/2006/table">
            <a:tbl>
              <a:tblPr>
                <a:noFill/>
                <a:tableStyleId>{E17C14C1-7FFF-4A5A-AF44-F0542414A1DF}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Models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Accuracy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Precision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Recall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F1 score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SVM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0.5025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1.00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0.62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EfficientNet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0.6670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0.72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0.48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0.52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ViT-Swin Transformer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0.8841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0.9479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0.9334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0.9406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ViT-Base\16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0.8768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0.9401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0.9369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0.9383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5" name="Google Shape;225;g3f59774f730_1_15"/>
          <p:cNvSpPr txBox="1"/>
          <p:nvPr/>
        </p:nvSpPr>
        <p:spPr>
          <a:xfrm>
            <a:off x="952500" y="1814275"/>
            <a:ext cx="42864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Configuration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and Future Enhancement 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914400" y="1997839"/>
            <a:ext cx="88392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FF0000"/>
                </a:solidFill>
              </a:rPr>
              <a:t>CONCLUSION  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systematic pipeline was developed to generate synthetic rice leaf images exhibiting multiple coexisting diseases. Disease patches were extracted from single-disease datasets and combined using copy-paste augmentation with multi-band Laplacian pyramid blending to produce realistic images. The generated dataset was validated through image quality metrics and is suitable for training and evaluating multi-label disease detection models. This work helps bridge the gap caused by the limited availability of multi-disease rice leaf datasets.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/>
        </p:nvSpPr>
        <p:spPr>
          <a:xfrm>
            <a:off x="845100" y="1528800"/>
            <a:ext cx="471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FF0000"/>
                </a:solidFill>
              </a:rPr>
              <a:t>FUTURE ENHANCEMENT </a:t>
            </a:r>
            <a:endParaRPr sz="2000" b="1" dirty="0"/>
          </a:p>
        </p:txBody>
      </p:sp>
      <p:sp>
        <p:nvSpPr>
          <p:cNvPr id="238" name="Google Shape;238;p16"/>
          <p:cNvSpPr txBox="1"/>
          <p:nvPr/>
        </p:nvSpPr>
        <p:spPr>
          <a:xfrm>
            <a:off x="845100" y="2281501"/>
            <a:ext cx="94488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 the dataset by including additional rice diseases and varying disease severity levels.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Explore diffusion models or GAN-based image synthesis for more realistic image generation. 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lesion placement using advanced semantic or biological constraints. 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extensive benchmarking using multi-label deep learning models such as Vision Transformers and Efficient Net.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Make the dataset publicly available to support research in precision agriculture and plant disease analysis.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 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552255" y="1937207"/>
            <a:ext cx="102870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Petchiammal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A,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Briskline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Kiruba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S, D.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Murugan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Pandarasamy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,"Paddy Doctor: A Visual Image Dataset for Automated Paddy Disease Classification and Benchmarking", May 2022.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. Md. Fahad Hossain , "Dhan-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Shomadhan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Dataset of Rice Leaf Disease Classification for Bangladeshi Local Rice" ,September 2023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Md.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Nurullah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Rania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Hodhod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,Hyrum Carroll and Yi Zhou ,"Advancing Multi-Label Tomato Leaf Disease Identification Using Vision Transformer and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EfficientNet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Explainable AI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Techniques",December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Fakruddin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Ali Ahmed,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Harprith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Kaur Rajinder Singh, "Study on Image Background Removal using Deep Learning " , JOURNAL OF DATA SCIENCE | Vol.2024:06  , eISSN:2805-5160 , May 2024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Steve Okyere-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Gyamfi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,Michael Asante, Kwame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Ofosuhene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Peasah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"Contrast limited adaptive histogram equalization (CLAHE) and colour difference histogram (CDH) feature merging capsule network (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CCFMCapsNet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for complex image recognition " October 2025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/>
        </p:nvSpPr>
        <p:spPr>
          <a:xfrm>
            <a:off x="800100" y="1720500"/>
            <a:ext cx="10591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Yanmin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Guo ,Yu Wang ,Kai Meng  and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Zongna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Zhu , "Otsu Multi-Threshold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Segmentation Based on Adaptive Double-Mutation Differential Evolution " , September 2023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Golnaz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Ghiasi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Yin Cui , Aravind Srinivas , Rui Qian, Tsung-Yi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Lin,Ekin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Cubuk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,"Simple Copy-Paste is a Strong Data Augmentation Method for Instance Segmentation,“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2021 IEEE/CVF Conference on Computer Vision and Pattern Recognition (CVPR),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Nashville, TN, USA, 2021, pp. 2917-2927,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10.1109/CVPR46437.2021.00294..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Shlok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Mehta ,Tisha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Negandhi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Prasenjit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Bhavathankar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,"Generative Adversarial Networks for Image Augmentation: Architecture, Training, and Real World Applications" ,2025 2nd Asia Pacific Conference on Innovation in Technology (APCIT), MYSORE, India, 2025, pp. 1-4, </a:t>
            </a:r>
            <a:r>
              <a:rPr lang="en-IN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</a:t>
            </a:r>
            <a:r>
              <a:rPr lang="en-IN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10.1109/APCIT65661.2025.11411062.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3650"/>
            <a:ext cx="12192000" cy="55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Microsoft Office PowerPoint</Application>
  <PresentationFormat>Widescreen</PresentationFormat>
  <Paragraphs>251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Noto Sans Symbols</vt:lpstr>
      <vt:lpstr>Trebuchet MS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EC S&amp;H 2I NIDHI C R</cp:lastModifiedBy>
  <cp:revision>1</cp:revision>
  <dcterms:created xsi:type="dcterms:W3CDTF">2020-11-22T08:14:37Z</dcterms:created>
  <dcterms:modified xsi:type="dcterms:W3CDTF">2026-07-23T08:57:20Z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