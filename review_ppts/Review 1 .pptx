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erif Display" charset="1" panose="00000000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  <p:embeddedFont>
      <p:font typeface="League Spartan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https://docs.google.com/document/d/1U6dRgOOEHdJRo7HXQe3yd6fVf56FgcEmLZLIPw_5YO0/edit?usp=sharing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kaggle.com/datasets/chaitanyakamble69/rice-leaf-disease-riceguard-19k-cleaned%20https:/www.kaggle.com/datasets/alamshihab075/rice-leaf-disease-an-images-dataset%20https:/www.kaggle.com/datasets/mdmehedihasan19/rice-leaf-disease-dataset%20https:/www.kaggle.com/datasets/sdeysocial/rice-leaf-disease-image-samples?select=Rice+Leaf+Disease+Images" TargetMode="External" Type="http://schemas.openxmlformats.org/officeDocument/2006/relationships/hyperlink"/><Relationship Id="rId11" Target="https://www.kaggle.com/datasets/sdeysocial/rice-leaf-disease-image-samples?select=Rice+Leaf+Disease+Images" TargetMode="External" Type="http://schemas.openxmlformats.org/officeDocument/2006/relationships/hyperlink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slide6.xml" Type="http://schemas.openxmlformats.org/officeDocument/2006/relationships/slide"/><Relationship Id="rId8" Target="https://www.kaggle.com/datasets/chaitanyakamble69/rice-leaf-disease-riceguard-19k-cleaned%20https:/www.kaggle.com/datasets/alamshihab075/rice-leaf-disease-an-images-dataset%20https:/www.kaggle.com/datasets/mdmehedihasan19/rice-leaf-disease-dataset%20https:/www.kaggle.com/datasets/sdeysocial/rice-leaf-disease-image-samples?select=Rice+Leaf+Disease+Images" TargetMode="External" Type="http://schemas.openxmlformats.org/officeDocument/2006/relationships/hyperlink"/><Relationship Id="rId9" Target="https://www.kaggle.com/datasets/chaitanyakamble69/rice-leaf-disease-riceguard-19k-cleaned%20https:/www.kaggle.com/datasets/alamshihab075/rice-leaf-disease-an-images-dataset%20https:/www.kaggle.com/datasets/mdmehedihasan19/rice-leaf-disease-dataset%20https:/www.kaggle.com/datasets/sdeysocial/rice-leaf-disease-image-samples?select=Rice+Leaf+Disease+Images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5622" y="3833237"/>
            <a:ext cx="5390388" cy="8229600"/>
          </a:xfrm>
          <a:custGeom>
            <a:avLst/>
            <a:gdLst/>
            <a:ahLst/>
            <a:cxnLst/>
            <a:rect r="r" b="b" t="t" l="l"/>
            <a:pathLst>
              <a:path h="8229600" w="5390388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037168" y="-2711692"/>
            <a:ext cx="8851165" cy="8197828"/>
          </a:xfrm>
          <a:custGeom>
            <a:avLst/>
            <a:gdLst/>
            <a:ahLst/>
            <a:cxnLst/>
            <a:rect r="r" b="b" t="t" l="l"/>
            <a:pathLst>
              <a:path h="8197828" w="8851165">
                <a:moveTo>
                  <a:pt x="0" y="0"/>
                </a:moveTo>
                <a:lnTo>
                  <a:pt x="8851165" y="0"/>
                </a:lnTo>
                <a:lnTo>
                  <a:pt x="8851165" y="8197827"/>
                </a:lnTo>
                <a:lnTo>
                  <a:pt x="0" y="8197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5128" y="2947692"/>
            <a:ext cx="16517743" cy="281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6"/>
              </a:lnSpc>
            </a:pPr>
            <a:r>
              <a:rPr lang="en-US" sz="5390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SYNTHETIC DATASET CREATION FOR</a:t>
            </a:r>
          </a:p>
          <a:p>
            <a:pPr algn="ctr">
              <a:lnSpc>
                <a:spcPts val="7546"/>
              </a:lnSpc>
            </a:pPr>
            <a:r>
              <a:rPr lang="en-US" sz="5390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CO-EXISTING </a:t>
            </a:r>
          </a:p>
          <a:p>
            <a:pPr algn="ctr" marL="0" indent="0" lvl="0">
              <a:lnSpc>
                <a:spcPts val="7546"/>
              </a:lnSpc>
            </a:pPr>
            <a:r>
              <a:rPr lang="en-US" sz="5390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DISEASES IN RICE LEAF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03083" y="5735724"/>
            <a:ext cx="11233487" cy="352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</a:pPr>
            <a:r>
              <a:rPr lang="en-US" sz="4940">
                <a:solidFill>
                  <a:srgbClr val="033168"/>
                </a:solidFill>
                <a:latin typeface="Poppins"/>
                <a:ea typeface="Poppins"/>
                <a:cs typeface="Poppins"/>
                <a:sym typeface="Poppins"/>
              </a:rPr>
              <a:t>Mentor: Prof.Swetha Patil    </a:t>
            </a:r>
          </a:p>
          <a:p>
            <a:pPr algn="ctr" marL="0" indent="0" lvl="0">
              <a:lnSpc>
                <a:spcPts val="6917"/>
              </a:lnSpc>
            </a:pPr>
            <a:r>
              <a:rPr lang="en-US" sz="4940">
                <a:solidFill>
                  <a:srgbClr val="033168"/>
                </a:solidFill>
                <a:latin typeface="Poppins"/>
                <a:ea typeface="Poppins"/>
                <a:cs typeface="Poppins"/>
                <a:sym typeface="Poppins"/>
              </a:rPr>
              <a:t>Team: 9</a:t>
            </a:r>
          </a:p>
          <a:p>
            <a:pPr algn="ctr" marL="0" indent="0" lvl="0">
              <a:lnSpc>
                <a:spcPts val="6917"/>
              </a:lnSpc>
            </a:pPr>
            <a:r>
              <a:rPr lang="en-US" sz="4940">
                <a:solidFill>
                  <a:srgbClr val="033168"/>
                </a:solidFill>
                <a:latin typeface="Poppins"/>
                <a:ea typeface="Poppins"/>
                <a:cs typeface="Poppins"/>
                <a:sym typeface="Poppins"/>
              </a:rPr>
              <a:t>Nidhi C R            Jayashree D</a:t>
            </a:r>
          </a:p>
          <a:p>
            <a:pPr algn="l" marL="0" indent="0" lvl="0">
              <a:lnSpc>
                <a:spcPts val="6917"/>
              </a:lnSpc>
            </a:pPr>
            <a:r>
              <a:rPr lang="en-US" sz="4940">
                <a:solidFill>
                  <a:srgbClr val="033168"/>
                </a:solidFill>
                <a:latin typeface="Poppins"/>
                <a:ea typeface="Poppins"/>
                <a:cs typeface="Poppins"/>
                <a:sym typeface="Poppins"/>
              </a:rPr>
              <a:t>PES2UG23CS382    PES2UG24CS203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15727008" y="-214667"/>
            <a:ext cx="1133073" cy="2713947"/>
          </a:xfrm>
          <a:custGeom>
            <a:avLst/>
            <a:gdLst/>
            <a:ahLst/>
            <a:cxnLst/>
            <a:rect r="r" b="b" t="t" l="l"/>
            <a:pathLst>
              <a:path h="2713947" w="1133073">
                <a:moveTo>
                  <a:pt x="0" y="0"/>
                </a:moveTo>
                <a:lnTo>
                  <a:pt x="1133073" y="0"/>
                </a:lnTo>
                <a:lnTo>
                  <a:pt x="1133073" y="2713947"/>
                </a:lnTo>
                <a:lnTo>
                  <a:pt x="0" y="2713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74532" y="9372600"/>
            <a:ext cx="12095073" cy="1009676"/>
          </a:xfrm>
          <a:custGeom>
            <a:avLst/>
            <a:gdLst/>
            <a:ahLst/>
            <a:cxnLst/>
            <a:rect r="r" b="b" t="t" l="l"/>
            <a:pathLst>
              <a:path h="1009676" w="12095073">
                <a:moveTo>
                  <a:pt x="0" y="0"/>
                </a:moveTo>
                <a:lnTo>
                  <a:pt x="12095073" y="0"/>
                </a:lnTo>
                <a:lnTo>
                  <a:pt x="12095073" y="1009676"/>
                </a:lnTo>
                <a:lnTo>
                  <a:pt x="0" y="1009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17439" y="-56820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8881" y="868470"/>
            <a:ext cx="16230600" cy="11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73"/>
              </a:lnSpc>
            </a:pPr>
            <a:r>
              <a:rPr lang="en-US" sz="6695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4943" y="1936660"/>
            <a:ext cx="15807185" cy="630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83"/>
              </a:lnSpc>
            </a:pPr>
          </a:p>
          <a:p>
            <a:pPr algn="just" marL="0" indent="0" lvl="0">
              <a:lnSpc>
                <a:spcPts val="4323"/>
              </a:lnSpc>
            </a:pPr>
            <a:r>
              <a:rPr lang="en-US" sz="30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rice leaf disease datasets primarily contain images of individual leaves affected by a single disease. While these datasets are widely used for disease analysis and model development, they do not adequately represent real-world field conditions where multiple diseases can occur simultaneously on the same leaf. The absence of publicly available multi-disease rice leaf datasets creates a significant gap in agricultural image resources and limits research on disease co-occurrence and multi-disease analysis. </a:t>
            </a:r>
          </a:p>
          <a:p>
            <a:pPr algn="just" marL="0" indent="0" lvl="0">
              <a:lnSpc>
                <a:spcPts val="4323"/>
              </a:lnSpc>
            </a:pPr>
            <a:r>
              <a:rPr lang="en-US" sz="30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Therefore, there is a need for a    dedicated </a:t>
            </a:r>
          </a:p>
          <a:p>
            <a:pPr algn="just" marL="0" indent="0" lvl="0">
              <a:lnSpc>
                <a:spcPts val="4323"/>
              </a:lnSpc>
            </a:pPr>
            <a:r>
              <a:rPr lang="en-US" sz="30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  containing    rice      leaf     images </a:t>
            </a:r>
          </a:p>
          <a:p>
            <a:pPr algn="just" marL="0" indent="0" lvl="0">
              <a:lnSpc>
                <a:spcPts val="4323"/>
              </a:lnSpc>
            </a:pPr>
            <a:r>
              <a:rPr lang="en-US" sz="30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exhibiting multiple diseases on a single leaf.</a:t>
            </a:r>
          </a:p>
          <a:p>
            <a:pPr algn="just" marL="0" indent="0" lvl="0">
              <a:lnSpc>
                <a:spcPts val="348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982286" y="6131841"/>
            <a:ext cx="7305714" cy="4586794"/>
            <a:chOff x="0" y="0"/>
            <a:chExt cx="9927573" cy="62328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27573" cy="6232893"/>
            </a:xfrm>
            <a:custGeom>
              <a:avLst/>
              <a:gdLst/>
              <a:ahLst/>
              <a:cxnLst/>
              <a:rect r="r" b="b" t="t" l="l"/>
              <a:pathLst>
                <a:path h="6232893" w="9927573">
                  <a:moveTo>
                    <a:pt x="0" y="0"/>
                  </a:moveTo>
                  <a:lnTo>
                    <a:pt x="9927573" y="0"/>
                  </a:lnTo>
                  <a:lnTo>
                    <a:pt x="9927573" y="6232893"/>
                  </a:lnTo>
                  <a:lnTo>
                    <a:pt x="0" y="6232893"/>
                  </a:lnTo>
                  <a:close/>
                </a:path>
              </a:pathLst>
            </a:custGeom>
            <a:blipFill>
              <a:blip r:embed="rId3"/>
              <a:stretch>
                <a:fillRect l="0" t="-3656" r="0" b="-365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10800000">
            <a:off x="78663" y="-2556808"/>
            <a:ext cx="1300436" cy="12843808"/>
          </a:xfrm>
          <a:custGeom>
            <a:avLst/>
            <a:gdLst/>
            <a:ahLst/>
            <a:cxnLst/>
            <a:rect r="r" b="b" t="t" l="l"/>
            <a:pathLst>
              <a:path h="12843808" w="1300436">
                <a:moveTo>
                  <a:pt x="0" y="0"/>
                </a:moveTo>
                <a:lnTo>
                  <a:pt x="1300436" y="0"/>
                </a:lnTo>
                <a:lnTo>
                  <a:pt x="1300436" y="12843808"/>
                </a:lnTo>
                <a:lnTo>
                  <a:pt x="0" y="12843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7332" y="-273530"/>
            <a:ext cx="9581295" cy="101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1"/>
              </a:lnSpc>
            </a:pPr>
            <a:r>
              <a:rPr lang="en-US" sz="5887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LITERATURE SURVEY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0" y="738988"/>
          <a:ext cx="18288000" cy="9548012"/>
        </p:xfrm>
        <a:graphic>
          <a:graphicData uri="http://schemas.openxmlformats.org/drawingml/2006/table">
            <a:tbl>
              <a:tblPr/>
              <a:tblGrid>
                <a:gridCol w="1163173"/>
                <a:gridCol w="4807975"/>
                <a:gridCol w="3744431"/>
                <a:gridCol w="3105524"/>
                <a:gridCol w="5466896"/>
              </a:tblGrid>
              <a:tr h="7841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Relevance to Project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Limitation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Sl.No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Technique /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Source dataset for BLB, Blast and Brown Spot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Single-disease images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Paddy Doctor (2022)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Rice disease dataset creation &amp; benchmarking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Supports multi-label disease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Tomato domain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Advanced Multi-Label Tomato Leaf Disease Identification (2025)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ViT + EfficientNet + Multi-label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Closest reference to multi-disease recognition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Different crop species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Mixed Disease Recognition in Apple Leaves (2026)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Multi-task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Lesion segmentation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Sensitive to illumination variation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Otsu Multi-Threshold Image Segmentation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Otsu Thresholding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1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Disease patch boundary extraction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Traditional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Recognition System for Leaf Images (2017)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Contour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1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Key technique for dataset creation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Not agriculture-specific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Simple Copy-Paste Augmentation (2021)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Copy-Paste Augmentation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1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Direct inspiration for lesion insertion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Medical domain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Copy-Paste with Poisson Blending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Copy-Paste + Poisson Blending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1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Dataset quality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Not plant-specific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Image Quality Assessment Study (2019)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SSIM, PSNR, MSE, FSIM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04042" y="-930288"/>
            <a:ext cx="4710516" cy="2577937"/>
          </a:xfrm>
          <a:custGeom>
            <a:avLst/>
            <a:gdLst/>
            <a:ahLst/>
            <a:cxnLst/>
            <a:rect r="r" b="b" t="t" l="l"/>
            <a:pathLst>
              <a:path h="2577937" w="4710516">
                <a:moveTo>
                  <a:pt x="0" y="0"/>
                </a:moveTo>
                <a:lnTo>
                  <a:pt x="4710516" y="0"/>
                </a:lnTo>
                <a:lnTo>
                  <a:pt x="4710516" y="2577937"/>
                </a:lnTo>
                <a:lnTo>
                  <a:pt x="0" y="257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3095" y="1012545"/>
            <a:ext cx="16244305" cy="756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</a:p>
          <a:p>
            <a:pPr algn="l" marL="569140" indent="-284570" lvl="1">
              <a:lnSpc>
                <a:spcPts val="3690"/>
              </a:lnSpc>
              <a:spcBef>
                <a:spcPct val="0"/>
              </a:spcBef>
              <a:buAutoNum type="arabicPeriod" startAt="1"/>
            </a:pPr>
            <a:r>
              <a:rPr lang="en-US" b="true" sz="26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Lack </a:t>
            </a:r>
            <a:r>
              <a:rPr lang="en-US" b="true" sz="26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 Multi-Disease Rice Leaf Datasets</a:t>
            </a:r>
          </a:p>
          <a:p>
            <a:pPr algn="l" marL="1138281" indent="-379427" lvl="2">
              <a:lnSpc>
                <a:spcPts val="3690"/>
              </a:lnSpc>
              <a:spcBef>
                <a:spcPct val="0"/>
              </a:spcBef>
              <a:buFont typeface="Arial"/>
              <a:buChar char="⚬"/>
            </a:pPr>
            <a:r>
              <a:rPr lang="en-US" sz="26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rice disease datasets mainly contain single-leaf, single-disease images.</a:t>
            </a:r>
          </a:p>
          <a:p>
            <a:pPr algn="l" marL="569140" indent="-284570" lvl="1">
              <a:lnSpc>
                <a:spcPts val="3690"/>
              </a:lnSpc>
              <a:spcBef>
                <a:spcPct val="0"/>
              </a:spcBef>
              <a:buAutoNum type="arabicPeriod" startAt="1"/>
            </a:pPr>
            <a:r>
              <a:rPr lang="en-US" b="true" sz="26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Poor Representation of Real Field Conditions</a:t>
            </a:r>
          </a:p>
          <a:p>
            <a:pPr algn="l" marL="1138281" indent="-379427" lvl="2">
              <a:lnSpc>
                <a:spcPts val="3690"/>
              </a:lnSpc>
              <a:spcBef>
                <a:spcPct val="0"/>
              </a:spcBef>
              <a:buFont typeface="Arial"/>
              <a:buChar char="⚬"/>
            </a:pPr>
            <a:r>
              <a:rPr lang="en-US" sz="26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 datasets do not adequately capture disease co-occurrence observed in agricultural fields.</a:t>
            </a:r>
          </a:p>
          <a:p>
            <a:pPr algn="l" marL="569140" indent="-284570" lvl="1">
              <a:lnSpc>
                <a:spcPts val="3690"/>
              </a:lnSpc>
              <a:spcBef>
                <a:spcPct val="0"/>
              </a:spcBef>
              <a:buAutoNum type="arabicPeriod" startAt="1"/>
            </a:pPr>
            <a:r>
              <a:rPr lang="en-US" b="true" sz="26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 Rice-Specific Multi-Label Resources</a:t>
            </a:r>
          </a:p>
          <a:p>
            <a:pPr algn="l" marL="1138281" indent="-379427" lvl="2">
              <a:lnSpc>
                <a:spcPts val="3690"/>
              </a:lnSpc>
              <a:spcBef>
                <a:spcPct val="0"/>
              </a:spcBef>
              <a:buFont typeface="Arial"/>
              <a:buChar char="⚬"/>
            </a:pPr>
            <a:r>
              <a:rPr lang="en-US" sz="26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multi-label disease studies focus on crops such as tomato and apple rather than rice.</a:t>
            </a:r>
          </a:p>
          <a:p>
            <a:pPr algn="l" marL="569140" indent="-284570" lvl="1">
              <a:lnSpc>
                <a:spcPts val="3690"/>
              </a:lnSpc>
              <a:spcBef>
                <a:spcPct val="0"/>
              </a:spcBef>
              <a:buAutoNum type="arabicPeriod" startAt="1"/>
            </a:pPr>
            <a:r>
              <a:rPr lang="en-US" b="true" sz="26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Emphasis on Classification Over Dataset Development</a:t>
            </a:r>
          </a:p>
          <a:p>
            <a:pPr algn="l" marL="1138281" indent="-379427" lvl="2">
              <a:lnSpc>
                <a:spcPts val="3690"/>
              </a:lnSpc>
              <a:spcBef>
                <a:spcPct val="0"/>
              </a:spcBef>
              <a:buFont typeface="Arial"/>
              <a:buChar char="⚬"/>
            </a:pPr>
            <a:r>
              <a:rPr lang="en-US" sz="26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research primarily develops disease detection models instead of creating new datasets.</a:t>
            </a:r>
          </a:p>
          <a:p>
            <a:pPr algn="l" marL="569140" indent="-284570" lvl="1">
              <a:lnSpc>
                <a:spcPts val="3690"/>
              </a:lnSpc>
              <a:spcBef>
                <a:spcPct val="0"/>
              </a:spcBef>
              <a:buAutoNum type="arabicPeriod" startAt="1"/>
            </a:pPr>
            <a:r>
              <a:rPr lang="en-US" b="true" sz="26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 Use of Image Synthesis for Dataset Expansion</a:t>
            </a:r>
          </a:p>
          <a:p>
            <a:pPr algn="l" marL="1138281" indent="-379427" lvl="2">
              <a:lnSpc>
                <a:spcPts val="3690"/>
              </a:lnSpc>
              <a:spcBef>
                <a:spcPct val="0"/>
              </a:spcBef>
              <a:buFont typeface="Arial"/>
              <a:buChar char="⚬"/>
            </a:pPr>
            <a:r>
              <a:rPr lang="en-US" sz="26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Advanced image synthesis techniques are rarely used to generate multi-disease rice leaf samples.</a:t>
            </a:r>
          </a:p>
          <a:p>
            <a:pPr algn="l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457798" y="-133350"/>
            <a:ext cx="7372405" cy="126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481"/>
              </a:lnSpc>
            </a:pPr>
            <a:r>
              <a:rPr lang="en-US" sz="7487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RESEARCH GAPS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92514" y="4838158"/>
            <a:ext cx="4322413" cy="6450162"/>
          </a:xfrm>
          <a:custGeom>
            <a:avLst/>
            <a:gdLst/>
            <a:ahLst/>
            <a:cxnLst/>
            <a:rect r="r" b="b" t="t" l="l"/>
            <a:pathLst>
              <a:path h="6450162" w="4322413">
                <a:moveTo>
                  <a:pt x="0" y="0"/>
                </a:moveTo>
                <a:lnTo>
                  <a:pt x="4322413" y="0"/>
                </a:lnTo>
                <a:lnTo>
                  <a:pt x="4322413" y="6450162"/>
                </a:lnTo>
                <a:lnTo>
                  <a:pt x="0" y="645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65" t="-13302" r="-121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511371"/>
            <a:ext cx="10733333" cy="123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  <a:spcBef>
                <a:spcPct val="0"/>
              </a:spcBef>
            </a:pPr>
            <a:r>
              <a:rPr lang="en-US" b="true" sz="234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docs.google.com/document/d/1U6dRgOOEHdJRo7HXQe3yd6fVf56FgcEmLZLIPw_5YO0/edit?usp=sharing"/>
              </a:rPr>
              <a:t>Link to Literature survey: https://docs.google.com/document/d/1U6dRgOOEHdJRo7HXQe3yd6fVf56FgcEmLZLIPw_5YO0/edit?usp=sharing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44316" y="-1353025"/>
            <a:ext cx="4944611" cy="2706051"/>
          </a:xfrm>
          <a:custGeom>
            <a:avLst/>
            <a:gdLst/>
            <a:ahLst/>
            <a:cxnLst/>
            <a:rect r="r" b="b" t="t" l="l"/>
            <a:pathLst>
              <a:path h="2706051" w="4944611">
                <a:moveTo>
                  <a:pt x="0" y="0"/>
                </a:moveTo>
                <a:lnTo>
                  <a:pt x="4944611" y="0"/>
                </a:lnTo>
                <a:lnTo>
                  <a:pt x="4944611" y="2706050"/>
                </a:lnTo>
                <a:lnTo>
                  <a:pt x="0" y="270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68442" y="1677126"/>
            <a:ext cx="8590858" cy="758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209" indent="-288104" lvl="1">
              <a:lnSpc>
                <a:spcPts val="3736"/>
              </a:lnSpc>
              <a:spcBef>
                <a:spcPct val="0"/>
              </a:spcBef>
              <a:buAutoNum type="arabicPeriod" startAt="1"/>
            </a:pP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Single-disease rice leaf datasets are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collected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preprocessed thr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ough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 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enhancement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techniques.</a:t>
            </a:r>
          </a:p>
          <a:p>
            <a:pPr algn="l" marL="576209" indent="-288104" lvl="1">
              <a:lnSpc>
                <a:spcPts val="3736"/>
              </a:lnSpc>
              <a:spcBef>
                <a:spcPct val="0"/>
              </a:spcBef>
              <a:buAutoNum type="arabicPeriod" startAt="1"/>
            </a:pP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Disease lesions are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segmented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extracted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create a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disease patch library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further processing.</a:t>
            </a:r>
          </a:p>
          <a:p>
            <a:pPr algn="l" marL="576209" indent="-288104" lvl="1">
              <a:lnSpc>
                <a:spcPts val="3736"/>
              </a:lnSpc>
              <a:spcBef>
                <a:spcPct val="0"/>
              </a:spcBef>
              <a:buAutoNum type="arabicPeriod" startAt="1"/>
            </a:pP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Extracted disease patches are combined using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copy-paste augmentation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blending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techniques to generate multi-disease rice leaf images.</a:t>
            </a:r>
          </a:p>
          <a:p>
            <a:pPr algn="l" marL="576209" indent="-288104" lvl="1">
              <a:lnSpc>
                <a:spcPts val="3736"/>
              </a:lnSpc>
              <a:spcBef>
                <a:spcPct val="0"/>
              </a:spcBef>
              <a:buAutoNum type="arabicPeriod" startAt="1"/>
            </a:pP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generated images are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validated, annotated, and organized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into a multi-label dataset.</a:t>
            </a:r>
          </a:p>
          <a:p>
            <a:pPr algn="l" marL="576209" indent="-288104" lvl="1">
              <a:lnSpc>
                <a:spcPts val="3736"/>
              </a:lnSpc>
              <a:spcBef>
                <a:spcPct val="0"/>
              </a:spcBef>
              <a:buAutoNum type="arabicPeriod" startAt="1"/>
            </a:pP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Multi-label classification models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are used to evaluate </a:t>
            </a:r>
            <a:r>
              <a:rPr lang="en-US" b="true" sz="26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quality</a:t>
            </a:r>
            <a:r>
              <a:rPr lang="en-US" sz="26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verify the effectiveness of the created dataset.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77159" y="6833885"/>
            <a:ext cx="2804848" cy="4282211"/>
          </a:xfrm>
          <a:custGeom>
            <a:avLst/>
            <a:gdLst/>
            <a:ahLst/>
            <a:cxnLst/>
            <a:rect r="r" b="b" t="t" l="l"/>
            <a:pathLst>
              <a:path h="4282211" w="2804848">
                <a:moveTo>
                  <a:pt x="0" y="0"/>
                </a:moveTo>
                <a:lnTo>
                  <a:pt x="2804849" y="0"/>
                </a:lnTo>
                <a:lnTo>
                  <a:pt x="2804849" y="4282211"/>
                </a:lnTo>
                <a:lnTo>
                  <a:pt x="0" y="4282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6125" y="1207686"/>
            <a:ext cx="7790355" cy="8596254"/>
          </a:xfrm>
          <a:custGeom>
            <a:avLst/>
            <a:gdLst/>
            <a:ahLst/>
            <a:cxnLst/>
            <a:rect r="r" b="b" t="t" l="l"/>
            <a:pathLst>
              <a:path h="8596254" w="7790355">
                <a:moveTo>
                  <a:pt x="0" y="0"/>
                </a:moveTo>
                <a:lnTo>
                  <a:pt x="7790355" y="0"/>
                </a:lnTo>
                <a:lnTo>
                  <a:pt x="7790355" y="8596254"/>
                </a:lnTo>
                <a:lnTo>
                  <a:pt x="0" y="8596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67615" y="-123825"/>
            <a:ext cx="10152770" cy="115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62"/>
              </a:lnSpc>
            </a:pPr>
            <a:r>
              <a:rPr lang="en-US" sz="6758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 </a:t>
            </a:r>
            <a:r>
              <a:rPr lang="en-US" sz="6758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723240"/>
            <a:ext cx="2857369" cy="1563760"/>
          </a:xfrm>
          <a:custGeom>
            <a:avLst/>
            <a:gdLst/>
            <a:ahLst/>
            <a:cxnLst/>
            <a:rect r="r" b="b" t="t" l="l"/>
            <a:pathLst>
              <a:path h="1563760" w="2857369">
                <a:moveTo>
                  <a:pt x="0" y="0"/>
                </a:moveTo>
                <a:lnTo>
                  <a:pt x="2857369" y="0"/>
                </a:lnTo>
                <a:lnTo>
                  <a:pt x="2857369" y="1563760"/>
                </a:lnTo>
                <a:lnTo>
                  <a:pt x="0" y="1563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972" y="2587492"/>
            <a:ext cx="4447412" cy="3765920"/>
          </a:xfrm>
          <a:custGeom>
            <a:avLst/>
            <a:gdLst/>
            <a:ahLst/>
            <a:cxnLst/>
            <a:rect r="r" b="b" t="t" l="l"/>
            <a:pathLst>
              <a:path h="3765920" w="4447412">
                <a:moveTo>
                  <a:pt x="0" y="0"/>
                </a:moveTo>
                <a:lnTo>
                  <a:pt x="4447412" y="0"/>
                </a:lnTo>
                <a:lnTo>
                  <a:pt x="4447412" y="3765920"/>
                </a:lnTo>
                <a:lnTo>
                  <a:pt x="0" y="376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121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72859" y="2587492"/>
            <a:ext cx="4439821" cy="3765920"/>
          </a:xfrm>
          <a:custGeom>
            <a:avLst/>
            <a:gdLst/>
            <a:ahLst/>
            <a:cxnLst/>
            <a:rect r="r" b="b" t="t" l="l"/>
            <a:pathLst>
              <a:path h="3765920" w="4439821">
                <a:moveTo>
                  <a:pt x="0" y="0"/>
                </a:moveTo>
                <a:lnTo>
                  <a:pt x="4439821" y="0"/>
                </a:lnTo>
                <a:lnTo>
                  <a:pt x="4439821" y="3765920"/>
                </a:lnTo>
                <a:lnTo>
                  <a:pt x="0" y="3765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46155" y="2587492"/>
            <a:ext cx="4257949" cy="3765920"/>
          </a:xfrm>
          <a:custGeom>
            <a:avLst/>
            <a:gdLst/>
            <a:ahLst/>
            <a:cxnLst/>
            <a:rect r="r" b="b" t="t" l="l"/>
            <a:pathLst>
              <a:path h="3765920" w="4257949">
                <a:moveTo>
                  <a:pt x="0" y="0"/>
                </a:moveTo>
                <a:lnTo>
                  <a:pt x="4257949" y="0"/>
                </a:lnTo>
                <a:lnTo>
                  <a:pt x="4257949" y="3765920"/>
                </a:lnTo>
                <a:lnTo>
                  <a:pt x="0" y="3765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94368" y="550139"/>
            <a:ext cx="8099265" cy="14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1"/>
              </a:lnSpc>
            </a:pPr>
            <a:r>
              <a:rPr lang="en-US" sz="8493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67687"/>
            <a:ext cx="5835738" cy="55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  <a:spcBef>
                <a:spcPct val="0"/>
              </a:spcBef>
            </a:pPr>
            <a:r>
              <a:rPr lang="en-US" b="true" sz="3144">
                <a:solidFill>
                  <a:srgbClr val="033168"/>
                </a:solidFill>
                <a:latin typeface="Poppins Bold"/>
                <a:ea typeface="Poppins Bold"/>
                <a:cs typeface="Poppins Bold"/>
                <a:sym typeface="Poppins Bold"/>
              </a:rPr>
              <a:t>Bacterial Leaf Blight(1076)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2859" y="6267687"/>
            <a:ext cx="4439821" cy="55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  <a:spcBef>
                <a:spcPct val="0"/>
              </a:spcBef>
            </a:pPr>
            <a:r>
              <a:rPr lang="en-US" b="true" sz="3144">
                <a:solidFill>
                  <a:srgbClr val="033168"/>
                </a:solidFill>
                <a:latin typeface="Poppins Bold"/>
                <a:ea typeface="Poppins Bold"/>
                <a:cs typeface="Poppins Bold"/>
                <a:sym typeface="Poppins Bold"/>
              </a:rPr>
              <a:t>Leaf Blast(1560)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46155" y="6267687"/>
            <a:ext cx="4257949" cy="55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  <a:spcBef>
                <a:spcPct val="0"/>
              </a:spcBef>
            </a:pPr>
            <a:r>
              <a:rPr lang="en-US" b="true" sz="3144">
                <a:solidFill>
                  <a:srgbClr val="033168"/>
                </a:solidFill>
                <a:latin typeface="Poppins Bold"/>
                <a:ea typeface="Poppins Bold"/>
                <a:cs typeface="Poppins Bold"/>
                <a:sym typeface="Poppins Bold"/>
              </a:rPr>
              <a:t>Brown Spot(1392)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972" y="7099591"/>
            <a:ext cx="15412133" cy="240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b="true" sz="227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7" action="ppaction://hlinksldjump"/>
              </a:rPr>
              <a:t>Dataset Source:</a:t>
            </a:r>
          </a:p>
          <a:p>
            <a:pPr algn="l" marL="491242" indent="-245621" lvl="1">
              <a:lnSpc>
                <a:spcPts val="3185"/>
              </a:lnSpc>
              <a:buAutoNum type="arabicPeriod" startAt="1"/>
            </a:pPr>
            <a:r>
              <a:rPr lang="en-US" b="true" sz="227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kaggle.com/datasets/chaitanyakamble69/rice-leaf-disease-riceguard-19k-cleaned%20https:/www.kaggle.com/datasets/alamshihab075/rice-leaf-disease-an-images-dataset%20https:/www.kaggle.com/datasets/mdmehedihasan19/rice-leaf-disease-dataset%20https:/www.kaggle.com/datasets/sdeysocial/rice-leaf-disease-image-samples?select=Rice+Leaf+Disease+Images"/>
              </a:rPr>
              <a:t>https://www.kaggle.com/datasets/chaitanyakamble69/rice-leaf-disease-riceguard-19k-cleaned</a:t>
            </a:r>
          </a:p>
          <a:p>
            <a:pPr algn="l" marL="491242" indent="-245621" lvl="1">
              <a:lnSpc>
                <a:spcPts val="3185"/>
              </a:lnSpc>
              <a:buAutoNum type="arabicPeriod" startAt="1"/>
            </a:pPr>
            <a:r>
              <a:rPr lang="en-US" b="true" sz="227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9" tooltip="https://www.kaggle.com/datasets/chaitanyakamble69/rice-leaf-disease-riceguard-19k-cleaned%20https:/www.kaggle.com/datasets/alamshihab075/rice-leaf-disease-an-images-dataset%20https:/www.kaggle.com/datasets/mdmehedihasan19/rice-leaf-disease-dataset%20https:/www.kaggle.com/datasets/sdeysocial/rice-leaf-disease-image-samples?select=Rice+Leaf+Disease+Images"/>
              </a:rPr>
              <a:t>https://www.kaggle.com/datasets/alamshihab075/rice-leaf-disease-an-images-dataset</a:t>
            </a:r>
          </a:p>
          <a:p>
            <a:pPr algn="l" marL="491242" indent="-245621" lvl="1">
              <a:lnSpc>
                <a:spcPts val="3185"/>
              </a:lnSpc>
              <a:buAutoNum type="arabicPeriod" startAt="1"/>
            </a:pPr>
            <a:r>
              <a:rPr lang="en-US" b="true" sz="227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10" tooltip="https://www.kaggle.com/datasets/chaitanyakamble69/rice-leaf-disease-riceguard-19k-cleaned%20https:/www.kaggle.com/datasets/alamshihab075/rice-leaf-disease-an-images-dataset%20https:/www.kaggle.com/datasets/mdmehedihasan19/rice-leaf-disease-dataset%20https:/www.kaggle.com/datasets/sdeysocial/rice-leaf-disease-image-samples?select=Rice+Leaf+Disease+Images"/>
              </a:rPr>
              <a:t>https://www.kaggle.com/datasets/mdmehedihasan19/rice-leaf-disease-dataset</a:t>
            </a:r>
          </a:p>
          <a:p>
            <a:pPr algn="l" marL="491242" indent="-245621" lvl="1">
              <a:lnSpc>
                <a:spcPts val="3185"/>
              </a:lnSpc>
              <a:spcBef>
                <a:spcPct val="0"/>
              </a:spcBef>
              <a:buAutoNum type="arabicPeriod" startAt="1"/>
            </a:pPr>
            <a:r>
              <a:rPr lang="en-US" b="true" sz="227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11" tooltip="https://www.kaggle.com/datasets/sdeysocial/rice-leaf-disease-image-samples?select=Rice+Leaf+Disease+Images"/>
              </a:rPr>
              <a:t>https://www.kaggle.com/datasets/sdeysocial/rice-leaf-disease-image-samples?select=Rice+Leaf+Disease+Images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5760" y="437374"/>
            <a:ext cx="9976480" cy="106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39"/>
              </a:lnSpc>
            </a:pPr>
            <a:r>
              <a:rPr lang="en-US" sz="6313">
                <a:solidFill>
                  <a:srgbClr val="033168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APPLICATIONS &amp; USE CASES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96483" y="-595185"/>
            <a:ext cx="4710516" cy="2577937"/>
          </a:xfrm>
          <a:custGeom>
            <a:avLst/>
            <a:gdLst/>
            <a:ahLst/>
            <a:cxnLst/>
            <a:rect r="r" b="b" t="t" l="l"/>
            <a:pathLst>
              <a:path h="2577937" w="4710516">
                <a:moveTo>
                  <a:pt x="0" y="0"/>
                </a:moveTo>
                <a:lnTo>
                  <a:pt x="4710516" y="0"/>
                </a:lnTo>
                <a:lnTo>
                  <a:pt x="4710516" y="2577937"/>
                </a:lnTo>
                <a:lnTo>
                  <a:pt x="0" y="257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32240" y="2674663"/>
            <a:ext cx="5674759" cy="8468213"/>
          </a:xfrm>
          <a:custGeom>
            <a:avLst/>
            <a:gdLst/>
            <a:ahLst/>
            <a:cxnLst/>
            <a:rect r="r" b="b" t="t" l="l"/>
            <a:pathLst>
              <a:path h="8468213" w="5674759">
                <a:moveTo>
                  <a:pt x="0" y="0"/>
                </a:moveTo>
                <a:lnTo>
                  <a:pt x="5674759" y="0"/>
                </a:lnTo>
                <a:lnTo>
                  <a:pt x="5674759" y="8468213"/>
                </a:lnTo>
                <a:lnTo>
                  <a:pt x="0" y="8468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65" t="-13302" r="-121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1449" y="1916077"/>
            <a:ext cx="14382374" cy="745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  <a:spcBef>
                <a:spcPct val="0"/>
              </a:spcBef>
            </a:pPr>
          </a:p>
          <a:p>
            <a:pPr algn="l" marL="538686" indent="-269343" lvl="1">
              <a:lnSpc>
                <a:spcPts val="3493"/>
              </a:lnSpc>
              <a:spcBef>
                <a:spcPct val="0"/>
              </a:spcBef>
              <a:buAutoNum type="arabicPeriod" startAt="1"/>
            </a:pPr>
            <a:r>
              <a:rPr lang="en-US" b="true" sz="24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Multi-Disease Detection Research</a:t>
            </a:r>
          </a:p>
          <a:p>
            <a:pPr algn="l" marL="1077371" indent="-359124" lvl="2">
              <a:lnSpc>
                <a:spcPts val="3493"/>
              </a:lnSpc>
              <a:spcBef>
                <a:spcPct val="0"/>
              </a:spcBef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the development and evaluation of machine learning and deep learning models for identifying multiple diseases on a single rice leaf.</a:t>
            </a:r>
          </a:p>
          <a:p>
            <a:pPr algn="l" marL="538686" indent="-269343" lvl="1">
              <a:lnSpc>
                <a:spcPts val="3493"/>
              </a:lnSpc>
              <a:spcBef>
                <a:spcPct val="0"/>
              </a:spcBef>
              <a:buAutoNum type="arabicPeriod" startAt="1"/>
            </a:pPr>
            <a:r>
              <a:rPr lang="en-US" b="true" sz="24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Benchmarking Multi-Label Classification Models</a:t>
            </a:r>
          </a:p>
          <a:p>
            <a:pPr algn="l" marL="1077371" indent="-359124" lvl="2">
              <a:lnSpc>
                <a:spcPts val="3493"/>
              </a:lnSpc>
              <a:spcBef>
                <a:spcPct val="0"/>
              </a:spcBef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a dataset for testing and comparing the performance of multi-label disease classification algorithms.</a:t>
            </a:r>
          </a:p>
          <a:p>
            <a:pPr algn="l" marL="538686" indent="-269343" lvl="1">
              <a:lnSpc>
                <a:spcPts val="3493"/>
              </a:lnSpc>
              <a:spcBef>
                <a:spcPct val="0"/>
              </a:spcBef>
              <a:buAutoNum type="arabicPeriod" startAt="1"/>
            </a:pPr>
            <a:r>
              <a:rPr lang="en-US" b="true" sz="24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Agricultural Decision Support Systems</a:t>
            </a:r>
          </a:p>
          <a:p>
            <a:pPr algn="l" marL="1077371" indent="-359124" lvl="2">
              <a:lnSpc>
                <a:spcPts val="3493"/>
              </a:lnSpc>
              <a:spcBef>
                <a:spcPct val="0"/>
              </a:spcBef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Serves as a valuable data resource for future disease diagnosis and crop health monitoring applications.</a:t>
            </a:r>
          </a:p>
          <a:p>
            <a:pPr algn="l" marL="538686" indent="-269343" lvl="1">
              <a:lnSpc>
                <a:spcPts val="3493"/>
              </a:lnSpc>
              <a:spcBef>
                <a:spcPct val="0"/>
              </a:spcBef>
              <a:buAutoNum type="arabicPeriod" startAt="1"/>
            </a:pPr>
            <a:r>
              <a:rPr lang="en-US" b="true" sz="24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Study of Disease Co-Occurrence</a:t>
            </a:r>
          </a:p>
          <a:p>
            <a:pPr algn="l" marL="1077371" indent="-359124" lvl="2">
              <a:lnSpc>
                <a:spcPts val="3493"/>
              </a:lnSpc>
              <a:spcBef>
                <a:spcPct val="0"/>
              </a:spcBef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researchers to analyze the occurrence and visual interaction of multiple diseases on the same rice leaf.</a:t>
            </a:r>
          </a:p>
          <a:p>
            <a:pPr algn="l" marL="538686" indent="-269343" lvl="1">
              <a:lnSpc>
                <a:spcPts val="3493"/>
              </a:lnSpc>
              <a:spcBef>
                <a:spcPct val="0"/>
              </a:spcBef>
              <a:buAutoNum type="arabicPeriod" startAt="1"/>
            </a:pPr>
            <a:r>
              <a:rPr lang="en-US" b="true" sz="24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Precision Agriculture Applications</a:t>
            </a:r>
          </a:p>
          <a:p>
            <a:pPr algn="l" marL="1077371" indent="-359124" lvl="2">
              <a:lnSpc>
                <a:spcPts val="3493"/>
              </a:lnSpc>
              <a:spcBef>
                <a:spcPct val="0"/>
              </a:spcBef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Contributes to the development of intelligent crop monitoring systems for improved disease management and yield protection.</a:t>
            </a:r>
          </a:p>
          <a:p>
            <a:pPr algn="l">
              <a:lnSpc>
                <a:spcPts val="34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67910" y="1776734"/>
            <a:ext cx="9083271" cy="5516023"/>
          </a:xfrm>
          <a:custGeom>
            <a:avLst/>
            <a:gdLst/>
            <a:ahLst/>
            <a:cxnLst/>
            <a:rect r="r" b="b" t="t" l="l"/>
            <a:pathLst>
              <a:path h="5516023" w="9083271">
                <a:moveTo>
                  <a:pt x="0" y="0"/>
                </a:moveTo>
                <a:lnTo>
                  <a:pt x="9083272" y="0"/>
                </a:lnTo>
                <a:lnTo>
                  <a:pt x="9083272" y="5516023"/>
                </a:lnTo>
                <a:lnTo>
                  <a:pt x="0" y="5516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04749" y="2191946"/>
            <a:ext cx="1474304" cy="1302748"/>
          </a:xfrm>
          <a:custGeom>
            <a:avLst/>
            <a:gdLst/>
            <a:ahLst/>
            <a:cxnLst/>
            <a:rect r="r" b="b" t="t" l="l"/>
            <a:pathLst>
              <a:path h="1302748" w="1474304">
                <a:moveTo>
                  <a:pt x="0" y="0"/>
                </a:moveTo>
                <a:lnTo>
                  <a:pt x="1474303" y="0"/>
                </a:lnTo>
                <a:lnTo>
                  <a:pt x="1474303" y="1302748"/>
                </a:lnTo>
                <a:lnTo>
                  <a:pt x="0" y="1302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23494" y="6948470"/>
            <a:ext cx="10048856" cy="9672024"/>
          </a:xfrm>
          <a:custGeom>
            <a:avLst/>
            <a:gdLst/>
            <a:ahLst/>
            <a:cxnLst/>
            <a:rect r="r" b="b" t="t" l="l"/>
            <a:pathLst>
              <a:path h="9672024" w="10048856">
                <a:moveTo>
                  <a:pt x="0" y="0"/>
                </a:moveTo>
                <a:lnTo>
                  <a:pt x="10048856" y="0"/>
                </a:lnTo>
                <a:lnTo>
                  <a:pt x="10048856" y="9672024"/>
                </a:lnTo>
                <a:lnTo>
                  <a:pt x="0" y="9672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85501" y="3747440"/>
            <a:ext cx="11516998" cy="259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2"/>
              </a:lnSpc>
            </a:pPr>
            <a:r>
              <a:rPr lang="en-US" b="true" sz="9992" i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  <a:p>
            <a:pPr algn="ctr" marL="0" indent="0" lvl="0">
              <a:lnSpc>
                <a:spcPts val="9992"/>
              </a:lnSpc>
            </a:pPr>
            <a:r>
              <a:rPr lang="en-US" b="true" sz="9992" i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89665" y="4171621"/>
            <a:ext cx="2968663" cy="3454445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7E8A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75766" y="2314884"/>
            <a:ext cx="2027798" cy="2359620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43668" y="7112436"/>
            <a:ext cx="1491995" cy="1736140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22882" y="8762851"/>
            <a:ext cx="1041571" cy="1212010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7E8A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DAHMz-fGtfQ</dc:identifier>
  <dcterms:modified xsi:type="dcterms:W3CDTF">2011-08-01T06:04:30Z</dcterms:modified>
  <cp:revision>1</cp:revision>
  <dc:title>review1_codmav</dc:title>
</cp:coreProperties>
</file>